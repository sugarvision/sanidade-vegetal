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eiros Sarti" userId="e43e6d2e46ccc398" providerId="LiveId" clId="{8C04762C-DD44-40A4-9CF2-BF9291C3E66A}"/>
    <pc:docChg chg="modSld">
      <pc:chgData name="Medeiros Sarti" userId="e43e6d2e46ccc398" providerId="LiveId" clId="{8C04762C-DD44-40A4-9CF2-BF9291C3E66A}" dt="2026-10-16T12:12:26.243" v="4" actId="1076"/>
      <pc:docMkLst>
        <pc:docMk/>
      </pc:docMkLst>
      <pc:sldChg chg="modSp mod">
        <pc:chgData name="Medeiros Sarti" userId="e43e6d2e46ccc398" providerId="LiveId" clId="{8C04762C-DD44-40A4-9CF2-BF9291C3E66A}" dt="2026-10-16T12:12:26.243" v="4" actId="1076"/>
        <pc:sldMkLst>
          <pc:docMk/>
          <pc:sldMk cId="0" sldId="258"/>
        </pc:sldMkLst>
        <pc:spChg chg="mod">
          <ac:chgData name="Medeiros Sarti" userId="e43e6d2e46ccc398" providerId="LiveId" clId="{8C04762C-DD44-40A4-9CF2-BF9291C3E66A}" dt="2026-10-16T12:12:26.243" v="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Medeiros Sarti" userId="e43e6d2e46ccc398" providerId="LiveId" clId="{8C04762C-DD44-40A4-9CF2-BF9291C3E66A}" dt="2026-10-16T12:12:11.083" v="2" actId="1076"/>
          <ac:spMkLst>
            <pc:docMk/>
            <pc:sldMk cId="0" sldId="258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7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8246"/>
                </a:solidFill>
              </a:defRPr>
            </a:pPr>
            <a:r>
              <a:t>SQUAD 2 | DEMODAY 2 • FRAMEWORK SEMMA (FASE MODIFY)</a:t>
            </a:r>
          </a:p>
          <a:p>
            <a:pPr>
              <a:spcBef>
                <a:spcPts val="800"/>
              </a:spcBef>
              <a:defRPr sz="3000" b="1">
                <a:solidFill>
                  <a:srgbClr val="142D55"/>
                </a:solidFill>
              </a:defRPr>
            </a:pPr>
            <a:r>
              <a:t>Engenharia de Features &amp; Consolidação da ABT Final</a:t>
            </a:r>
          </a:p>
          <a:p>
            <a:pPr>
              <a:spcBef>
                <a:spcPts val="600"/>
              </a:spcBef>
              <a:defRPr sz="1500">
                <a:solidFill>
                  <a:srgbClr val="646973"/>
                </a:solidFill>
              </a:defRPr>
            </a:pPr>
            <a:r>
              <a:t>Defesa Técnica de Transformações, Imputações, Blindagem Anti-Leakage e Handoff para Modelagem SVM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328416" cy="329184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5"/>
                </a:solidFill>
              </a:defRPr>
            </a:pPr>
            <a:r>
              <a:t>🌿 1. O QUE CONSTRUÍMOS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Extração cromática: ExG, ExR, razões R/G e espaços HSV/CIELAB.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Descritores de Haralick via GLCM multidirecional (4 direções).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Índice de Rugosidade Foliar de Pústula (IRFP) contra ferrugem.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Discretização estatística de metadados em faixas (bins).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Total de 35 atributos preditivos com validação agronômica.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926080"/>
            <a:ext cx="3328416" cy="329184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6" y="306324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8246"/>
                </a:solidFill>
              </a:defRPr>
            </a:pPr>
            <a:r>
              <a:t>⚙️ 2. COMO PROCESSAMOS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Pipeline Atômico implementado com ColumnTransformer.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Sub-pipeline numérico: SimpleImputer(mediana) + StandardScaler.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Sub-pipeline categórico: SimpleImputer(moda) + OneHotEncoder.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Expurgo automático de metadados via remainder='drop'.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Serialização MLOps em joblib (2,58 KB) e manifesto 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6992" y="2926080"/>
            <a:ext cx="3328416" cy="329184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306324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35400"/>
                </a:solidFill>
              </a:defRPr>
            </a:pPr>
            <a:r>
              <a:t>🛡️ 3. ANTI-LEAKAGE &amp; ABT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Regra de Ouro: fit_transform exclusivamente no Treino (5.574).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Transform determinístico em Validação (617) e Teste (380).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Prova matemática de isolamento amostral e teste adversarial.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ABT Final: 6.571 x 40 colunas auditadas com 0 NaNs.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Exportação Apache Parquet (3,26x menor, 1,41x mais veloz).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973"/>
                </a:solidFill>
              </a:defRPr>
            </a:pPr>
            <a:r>
              <a:t>Sanidade Vegetal AI (SugarVision) • FATEC Rio Claro 2026 • Avaliador: Prof. Julio Cesar de Lemos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VISÃO GERAL • FRAMEWORK SEMMA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O Ciclo 'O Que' e 'Como' na Engenharia de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5"/>
                </a:solidFill>
              </a:defRPr>
            </a:pPr>
            <a:r>
              <a:t>🎯 'O QUE' CONSTRUÍMOS: SINAIS FITOPATOLÓGICOS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Índice ExG (Excesso de Verde): Capta a destruição precoce do parênquima clorofiliano.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Índice ExR (Excesso de Vermelho): Mapeia manchas necróticas e pústulas oxidadas.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Espaço HSV (Hue &amp; Desvio Sat): Desacopla iluminação natural e rastreia o matiz foliar puro.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Matriz GLCM de Haralick: Quantifica contraste e quebra de homogeneidade superficial.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Invariância à Rotação: Média direcional em 0°, 45°, 90° e 135° eliminando viés de enquadramento.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Índice IRFP (Rugosidade): Métrica proprietária sintetizando rugosidade de pústula.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Discretização Estatística: Bins em quartis e KMeans para normalizar disparidades ópticas.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8246"/>
                </a:solidFill>
              </a:defRPr>
            </a:pPr>
            <a:r>
              <a:t>⚙️ 'COMO' EXECUTAMOS: ENGENHARIA ATÔMICA &amp; MLOPS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ColumnTransformer Atômico: Encapsula todas as operações em um único objeto serializável.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Sub-Pipeline Numérico: SimpleImputer(mediana) imune a outliers + StandardScaler(Z-score).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Sub-Pipeline Categórico: SimpleImputer(moda) + OneHotEncoder(handle_unknown='ignore').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Princípio Anti-Leakage: fit_transform estritamente em X_train; transform puro em Valid e Test.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Purificação de Metadados: remainder='drop' descarta caminhos, nomes e redundâncias físicas.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Consolidação Dual: Exportação simultânea em Apache Parquet (916 KB) e CSV (2,98 MB).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Governança MLOps: Manifesto JSON com hashes SHA-256 e verificação formal de integridade.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DESCRITORES CROMÁTICOS • TAREFA 1 (CESAR)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Índices Espectrais e Desacoplamento Luminoso no Espaço HSV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D55"/>
                </a:solidFill>
              </a:defRPr>
            </a:pPr>
            <a:r>
              <a:t>🌿 FUNDAMENTAÇÃO MATEMÁTICA E AGRONÔMICA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Índice de Excesso de Verde (ExG):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ExG = 2G - R - B</a:t>
            </a:r>
            <a:br/>
            <a:r>
              <a:t>Quantifica o vigor fotossintético e quebra da clorofila ativa.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Índice de Excesso de Vermelho (ExR):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ExR = 1.4R - G</a:t>
            </a:r>
            <a:br/>
            <a:r>
              <a:t>Amplifica tecidos oxidados, lesões necróticas e pústulas.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Razão Espectral R/G: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Razão = R / (G + ε)</a:t>
            </a:r>
            <a:br/>
            <a:r>
              <a:t>Sensível ao amarelecimento e clorose foliar avançada.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Espaço HSV (Hue &amp; Desvio Sat):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Hue circular (0° a 360°) isola o matiz biológico da folha, livre de sombras e variações solares de campo.</a:t>
            </a:r>
          </a:p>
        </p:txBody>
      </p:sp>
      <p:pic>
        <p:nvPicPr>
          <p:cNvPr id="7" name="Picture 6" descr="sprint2_analise_cromaticas_hsv_ex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1696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258491"/>
            <a:ext cx="4774474" cy="1833154"/>
          </a:xfrm>
          <a:prstGeom prst="roundRect">
            <a:avLst/>
          </a:prstGeom>
          <a:solidFill>
            <a:srgbClr val="EBF3FD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9202" y="46405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5AB4"/>
                </a:solidFill>
              </a:defRPr>
            </a:pPr>
            <a:r>
              <a:rPr dirty="0"/>
              <a:t>📊 COMPROVAÇÃO ESTATÍSTICA (6.571 AMOSTRAS)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rPr dirty="0"/>
              <a:t>• </a:t>
            </a:r>
            <a:r>
              <a:rPr dirty="0" err="1"/>
              <a:t>ExG</a:t>
            </a:r>
            <a:r>
              <a:rPr dirty="0"/>
              <a:t> </a:t>
            </a:r>
            <a:r>
              <a:rPr dirty="0" err="1"/>
              <a:t>Médio</a:t>
            </a:r>
            <a:r>
              <a:rPr dirty="0"/>
              <a:t>: </a:t>
            </a:r>
            <a:r>
              <a:rPr dirty="0" err="1"/>
              <a:t>Saudável</a:t>
            </a:r>
            <a:r>
              <a:rPr dirty="0"/>
              <a:t> (+44,82) vs </a:t>
            </a:r>
            <a:r>
              <a:rPr dirty="0" err="1"/>
              <a:t>Ferrugem</a:t>
            </a:r>
            <a:r>
              <a:rPr dirty="0"/>
              <a:t> (-18,45) | p &lt; 10⁻¹⁵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rPr dirty="0"/>
              <a:t>• </a:t>
            </a:r>
            <a:r>
              <a:rPr dirty="0" err="1"/>
              <a:t>Tamanho</a:t>
            </a:r>
            <a:r>
              <a:rPr dirty="0"/>
              <a:t> de </a:t>
            </a:r>
            <a:r>
              <a:rPr dirty="0" err="1"/>
              <a:t>Efeito</a:t>
            </a:r>
            <a:r>
              <a:rPr dirty="0"/>
              <a:t> (Cohen's d): 6,346 (</a:t>
            </a:r>
            <a:r>
              <a:rPr dirty="0" err="1"/>
              <a:t>Extremamente</a:t>
            </a:r>
            <a:r>
              <a:rPr dirty="0"/>
              <a:t> Alto)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rPr dirty="0"/>
              <a:t>• Matiz </a:t>
            </a:r>
            <a:r>
              <a:rPr dirty="0" err="1"/>
              <a:t>Médio</a:t>
            </a:r>
            <a:r>
              <a:rPr dirty="0"/>
              <a:t>: </a:t>
            </a:r>
            <a:r>
              <a:rPr dirty="0" err="1"/>
              <a:t>Saudável</a:t>
            </a:r>
            <a:r>
              <a:rPr dirty="0"/>
              <a:t> (76,5° Verde) vs </a:t>
            </a:r>
            <a:r>
              <a:rPr dirty="0" err="1"/>
              <a:t>Ferrugem</a:t>
            </a:r>
            <a:r>
              <a:rPr dirty="0"/>
              <a:t> (24,2° </a:t>
            </a:r>
            <a:r>
              <a:rPr dirty="0" err="1"/>
              <a:t>Laranja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rPr dirty="0"/>
              <a:t>• </a:t>
            </a:r>
            <a:r>
              <a:rPr dirty="0" err="1"/>
              <a:t>Conclusão</a:t>
            </a:r>
            <a:r>
              <a:rPr dirty="0"/>
              <a:t>: </a:t>
            </a:r>
            <a:r>
              <a:rPr dirty="0" err="1"/>
              <a:t>Separabilidade</a:t>
            </a:r>
            <a:r>
              <a:rPr dirty="0"/>
              <a:t> </a:t>
            </a:r>
            <a:r>
              <a:rPr dirty="0" err="1"/>
              <a:t>estrita</a:t>
            </a:r>
            <a:r>
              <a:rPr dirty="0"/>
              <a:t> </a:t>
            </a:r>
            <a:r>
              <a:rPr dirty="0" err="1"/>
              <a:t>comprovando</a:t>
            </a:r>
            <a:r>
              <a:rPr dirty="0"/>
              <a:t> a </a:t>
            </a:r>
            <a:r>
              <a:rPr dirty="0" err="1"/>
              <a:t>Hipótese</a:t>
            </a:r>
            <a:r>
              <a:rPr dirty="0"/>
              <a:t> H1.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DESCRITORES TEXTURAIS • TAREFA 2 (CESAR)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Matriz GLCM Multidirecional e Detecção de Pústulas Urediais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D55"/>
                </a:solidFill>
              </a:defRPr>
            </a:pPr>
            <a:r>
              <a:t>🔬 MATRIZ GLCM &amp; INVARIÂNCIA ROTACIONAL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Invariância Rotacional Rigorosa: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GLCM calculada nas 4 direções: θ ∈ {0°, 45°, 90°, 135°} com d=1. Consolidação pela média direcional F_bar = ¼ ∑ F_θ.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Contraste de Haralick: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Mede variações locais |i - j|² na escala de cinza. 1,72x maior em folhas doentes devido à transição abrupta nas bordas de pústulas.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Homogeneidade (IDM):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Mede suavidade superficial. Elevada na cutícula sadia (0,845) e em queda drástica na ferrugem (0,691).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Índice de Rugosidade (IRFP):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IRFP = (Contraste × Dissimilaridade) / (Homogeneidade + ε)</a:t>
            </a:r>
            <a:br/>
            <a:r>
              <a:t>Sinal micromorfológico combinado com Cohen's d = 4,110.</a:t>
            </a:r>
          </a:p>
        </p:txBody>
      </p:sp>
      <p:pic>
        <p:nvPicPr>
          <p:cNvPr id="7" name="Picture 6" descr="sprint2_analise_texturas_glcm_hara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4169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METADADOS &amp; DISCRETIZAÇÃO • SPRINT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Discretização Estatística de Metadados e Justificativa do One-Hot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D55"/>
                </a:solidFill>
              </a:defRPr>
            </a:pPr>
            <a:r>
              <a:t>📐 ESTRATÉGIAS DE BINNING UTILIZADAS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Peso de Arquivo (size_kb_bin):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4 quartis empíricos: Muito Leve, Leve, Moderado e Pesado.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Nitidez e Foco (laplacian_var_bin):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4 quartis via operador Laplaciano: Foco Fraco, Moderado, Alto e Ultra.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Resolução Óptica (resolution_bin):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3 tiers via KMeans: Baixa 640px, Média HD e Alta DSLR.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Proporção Geométrica (aspect_ratio_bin):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3 clusters KMeans: Retrato, Quadrado e Paisagem.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Metadados Nominais: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Origem (Roboflow vs Mendeley) e Extensão (.jpg vs .jpeg).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35400"/>
                </a:solidFill>
              </a:defRPr>
            </a:pPr>
            <a:r>
              <a:t>⚖️ DEFESA TÉCNICA: POR QUE ONE-HOT ENCODING?</a:t>
            </a:r>
          </a:p>
          <a:p>
            <a:pPr>
              <a:spcBef>
                <a:spcPts val="600"/>
              </a:spcBef>
              <a:defRPr sz="1100" b="1">
                <a:solidFill>
                  <a:srgbClr val="142D55"/>
                </a:solidFill>
              </a:defRPr>
            </a:pPr>
            <a:r>
              <a:t>• O Risco da Codificação Ordinal (0, 1, 2, 3):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Se os bins fossem inteiros ordinais, modelos de fronteira e margem como Support Vector Machines (SVM) assumiriam uma falsa monotonicidade linear contínua (ex: que o bin 3 é 3 vezes 'maior' que o bin 1).</a:t>
            </a:r>
          </a:p>
          <a:p>
            <a:pPr>
              <a:spcBef>
                <a:spcPts val="600"/>
              </a:spcBef>
              <a:defRPr sz="1100" b="1">
                <a:solidFill>
                  <a:srgbClr val="142D55"/>
                </a:solidFill>
              </a:defRPr>
            </a:pPr>
            <a:r>
              <a:t>• Ortogonalidade Geométrica no SVM: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O OneHotEncoder(handle_unknown='ignore') expande cada faixa em um vetor base ortogonal independente, permitindo ao hiperplano atribuir pesos w específicos para cada faixa de resolução sem viés de escala.</a:t>
            </a:r>
          </a:p>
          <a:p>
            <a:pPr>
              <a:spcBef>
                <a:spcPts val="600"/>
              </a:spcBef>
              <a:defRPr sz="1100" b="1">
                <a:solidFill>
                  <a:srgbClr val="142D55"/>
                </a:solidFill>
              </a:defRPr>
            </a:pPr>
            <a:r>
              <a:t>• Robustez em Produção: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O parâmetro handle_unknown='ignore' garante que qualquer valor inesperado em inferência não gere falha de execução.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ARQUITETURA MLOPS • PIPELINE ATÔMICO (ELISA)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Sub-Pipelines Especializados e Imputação Determinística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D55"/>
                </a:solidFill>
              </a:defRPr>
            </a:pPr>
            <a:r>
              <a:t>1️⃣ SUB-PIPELINE NUMÉRICO</a:t>
            </a:r>
            <a:br/>
            <a:r>
              <a:t>(17 FEATURES)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SimpleImputer(strategy='median'):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A mediana é imune a assimetrias e outliers observados em metadados ópticos e resoluções.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StandardScaler(with_mean=True, with_std=True):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Padronização Z-score (μ=0, σ=1), mandatória para funções de kernel SVM (RBF) baseadas em distância euclidiana.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2856" y="160020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8246"/>
                </a:solidFill>
              </a:defRPr>
            </a:pPr>
            <a:r>
              <a:t>2️⃣ SUB-PIPELINE CATEGÓRICO</a:t>
            </a:r>
            <a:br/>
            <a:r>
              <a:t>(6 FEATURES)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SimpleImputer(strategy='most_frequent'):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Imputação determinística baseada na moda da classe observada no treino.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OneHotEncoder(sparse_output=False, handle_unknown='ignore'):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Expansão em 18 colunas dummy binárias independentes.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Imunidade contra quebras em inferência.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60020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5400"/>
                </a:solidFill>
              </a:defRPr>
            </a:pPr>
            <a:r>
              <a:t>3️⃣ PURIFICAÇÃO &amp; ARTEFATOS</a:t>
            </a:r>
            <a:br/>
            <a:r>
              <a:t>(GOVERNANÇA MLOPS)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remainder='drop':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Expurgo automático de 8 colunas de metadados operacionais (sample_id, filepath, width, height).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Artefato Serializado: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preprocessor_pipeline.joblib (2,58 KB) pronto para a Sprint 3.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Manifesto JSON:</a:t>
            </a:r>
          </a:p>
          <a:p>
            <a:pPr>
              <a:spcBef>
                <a:spcPts val="300"/>
              </a:spcBef>
              <a:defRPr sz="1050">
                <a:solidFill>
                  <a:srgbClr val="282C34"/>
                </a:solidFill>
              </a:defRPr>
            </a:pPr>
            <a:r>
              <a:t>preprocessor_metadata.json mapeando as 35 features finais.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GOVERNANÇA &amp; QA • PRINCÍPIO ANTI-LEAKAGE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Prova Rigorosa de Isolamento Amostral e Imutabilidade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D55"/>
                </a:solidFill>
              </a:defRPr>
            </a:pPr>
            <a:r>
              <a:t>🛡️ A REGRA DE OURO DO FIT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Separação Precoce e Determinística: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Partições definidas na Sprint 1: Treino (5.574 | 84,8%), Validação (617 | 9,4%) e Teste Cego (380 | 5,8%).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Fit Exclusivo no Treino: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O método preprocessor.fit_transform() executa única e exclusivamente sobre X_train. Parâmetros estatísticos (médias μ, desvios σ, medianas) são fixados.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Transform Determinístico: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Validação e Teste recebem exclusivamente preprocessor.transform(), garantindo que nenhum sinal do futuro contamine o aprendizado.</a:t>
            </a:r>
          </a:p>
          <a:p>
            <a:pPr>
              <a:spcBef>
                <a:spcPts val="400"/>
              </a:spcBef>
              <a:defRPr sz="1100" b="1">
                <a:solidFill>
                  <a:srgbClr val="278246"/>
                </a:solidFill>
              </a:defRPr>
            </a:pPr>
            <a:r>
              <a:t>• Teste Adversarial: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Injeção de ruído Gaussiano e outliers no teste: os parâmetros internos do transformador permaneceram 100% inalterados bit a bit.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BF3FD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5AB4"/>
                </a:solidFill>
              </a:defRPr>
            </a:pPr>
            <a:r>
              <a:t>📐 AUDITORIA MATEMÁTICA DE MÉDIAS</a:t>
            </a:r>
          </a:p>
          <a:p>
            <a:pPr>
              <a:defRPr sz="1100">
                <a:solidFill>
                  <a:srgbClr val="282C34"/>
                </a:solidFill>
              </a:defRPr>
            </a:pPr>
            <a:r>
              <a:t>Após o pré-processamento, as médias e desvios foram auditados em cada partição:</a:t>
            </a:r>
            <a:br/>
            <a:endParaRPr/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1. Partição Treino (5.574 instâncias):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   Média: 0,0000 | Desvio: 1,0000 (Ajuste formal)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2. Partição Validação (617 instâncias):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   Média: 0,0142 ≠ 0 | Desvio: 0,9874 ≠ 1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3. Partição Teste Cego (380 instâncias):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   Média: -0,0218 ≠ 0 | Desvio: 1,0182 ≠ 1</a:t>
            </a:r>
          </a:p>
          <a:p>
            <a:br/>
            <a:r>
              <a:t>★ POR QUE ISSO PROVA ZERO LEAKAGE?</a:t>
            </a:r>
            <a:br/>
            <a:r>
              <a:t>Se validação ou teste tivessem média exatamente zero, haveria contaminação global no ajuste. O desvio das médias comprova isolamento matemático formal!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ABT FINAL &amp; BENCHMARK I/O • TAREFA 3 (ELISA)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Consolidação da abt_features_modelagem e Auditoria de Qualidade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D55"/>
                </a:solidFill>
              </a:defRPr>
            </a:pPr>
            <a:r>
              <a:t>📋 MÉTRICAS FORMAIS DA ABT CONSOLIDADA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Volumetria Oficial: Rigorosamente 6.571 linhas x 40 colunas.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Auditoria de Nulos: 0 NaNs (Zero) em 100% das células auditadas.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Chaves &amp; Metadados Preservados (5 colunas): sample_id (UUID único), split_partition, class_label, target_binary e target_multiclass.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Features Preditivas Modelagem (35 colunas): 17 contínuas Z-score + 18 categóricas One-Hot.</a:t>
            </a:r>
          </a:p>
          <a:p>
            <a:pPr>
              <a:spcBef>
                <a:spcPts val="400"/>
              </a:spcBef>
              <a:defRPr sz="1100">
                <a:solidFill>
                  <a:srgbClr val="282C34"/>
                </a:solidFill>
              </a:defRPr>
            </a:pPr>
            <a:r>
              <a:t>• Hashes Criptográficos SHA-256: Registrados no manifesto de integridade contra corrupção.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78246"/>
                </a:solidFill>
              </a:defRPr>
            </a:pPr>
            <a:r>
              <a:t>⚡ BENCHMARK DE DESEMPENHO I/O</a:t>
            </a:r>
          </a:p>
          <a:p>
            <a:pPr>
              <a:spcBef>
                <a:spcPts val="300"/>
              </a:spcBef>
              <a:defRPr sz="1100" b="1">
                <a:solidFill>
                  <a:srgbClr val="142D55"/>
                </a:solidFill>
              </a:defRPr>
            </a:pPr>
            <a:r>
              <a:t>• Tamanho em Disco: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Parquet: 916,92 KB (0,90 MB)</a:t>
            </a:r>
            <a:br/>
            <a:r>
              <a:t>CSV: 2.989,66 KB (2,92 MB)</a:t>
            </a:r>
            <a:br/>
            <a:r>
              <a:t>➔ 3,26x menor (-69,3% de tráfego)</a:t>
            </a:r>
          </a:p>
          <a:p>
            <a:pPr>
              <a:spcBef>
                <a:spcPts val="300"/>
              </a:spcBef>
              <a:defRPr sz="1100" b="1">
                <a:solidFill>
                  <a:srgbClr val="142D55"/>
                </a:solidFill>
              </a:defRPr>
            </a:pPr>
            <a:r>
              <a:t>• Tempo Médio de Carga (I/O):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Parquet: 36,19 ms</a:t>
            </a:r>
            <a:br/>
            <a:r>
              <a:t>CSV: 51,01 ms</a:t>
            </a:r>
            <a:br/>
            <a:r>
              <a:t>➔ 1,41x mais rápido em loops de Cross-Validation</a:t>
            </a:r>
          </a:p>
          <a:p>
            <a:pPr>
              <a:spcBef>
                <a:spcPts val="300"/>
              </a:spcBef>
              <a:defRPr sz="1100" b="1">
                <a:solidFill>
                  <a:srgbClr val="142D55"/>
                </a:solidFill>
              </a:defRPr>
            </a:pPr>
            <a:r>
              <a:t>• Preservação Estrita de Tipagem: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Parquet armazena nativamente int64 e float64, eliminando erros silenciosos de parsing textual.</a:t>
            </a:r>
          </a:p>
          <a:p>
            <a:pPr>
              <a:spcBef>
                <a:spcPts val="300"/>
              </a:spcBef>
              <a:defRPr sz="1100" b="1">
                <a:solidFill>
                  <a:srgbClr val="142D55"/>
                </a:solidFill>
              </a:defRPr>
            </a:pPr>
            <a:r>
              <a:t>• Compressão Utilizada:</a:t>
            </a:r>
          </a:p>
          <a:p>
            <a:pPr>
              <a:defRPr sz="1050">
                <a:solidFill>
                  <a:srgbClr val="282C34"/>
                </a:solidFill>
              </a:defRPr>
            </a:pPr>
            <a:r>
              <a:t>Algoritmo Snappy colunar com zero perda de precisão numérica.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9260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CONCLUSÃO &amp; PRONTIDÃO • SPRINT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D55"/>
                </a:solidFill>
              </a:defRPr>
            </a:pPr>
            <a:r>
              <a:t>100% da Fase Modify Concluída e Prontidão para Modelagem SVM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42D55"/>
                </a:solidFill>
              </a:defRPr>
            </a:pPr>
            <a:r>
              <a:t>✅ DEFINITION OF DONE (DoD) CUMPRIDO</a:t>
            </a:r>
          </a:p>
          <a:p>
            <a:pPr>
              <a:spcBef>
                <a:spcPts val="400"/>
              </a:spcBef>
              <a:defRPr sz="1100">
                <a:solidFill>
                  <a:srgbClr val="278246"/>
                </a:solidFill>
              </a:defRPr>
            </a:pPr>
            <a:r>
              <a:t>✔ Descritores cromáticos ExG/ExR e texturais GLCM com p &lt; 10⁻¹⁵.</a:t>
            </a:r>
          </a:p>
          <a:p>
            <a:pPr>
              <a:spcBef>
                <a:spcPts val="400"/>
              </a:spcBef>
              <a:defRPr sz="1100">
                <a:solidFill>
                  <a:srgbClr val="278246"/>
                </a:solidFill>
              </a:defRPr>
            </a:pPr>
            <a:r>
              <a:t>✔ Pipeline Atômico ColumnTransformer serializado em joblib.</a:t>
            </a:r>
          </a:p>
          <a:p>
            <a:pPr>
              <a:spcBef>
                <a:spcPts val="400"/>
              </a:spcBef>
              <a:defRPr sz="1100">
                <a:solidFill>
                  <a:srgbClr val="278246"/>
                </a:solidFill>
              </a:defRPr>
            </a:pPr>
            <a:r>
              <a:t>✔ Zero Data Leakage comprovado por auditoria e teste adversarial.</a:t>
            </a:r>
          </a:p>
          <a:p>
            <a:pPr>
              <a:spcBef>
                <a:spcPts val="400"/>
              </a:spcBef>
              <a:defRPr sz="1100">
                <a:solidFill>
                  <a:srgbClr val="278246"/>
                </a:solidFill>
              </a:defRPr>
            </a:pPr>
            <a:r>
              <a:t>✔ ABT final abt_features_modelagem homologada com 0 NaNs.</a:t>
            </a:r>
          </a:p>
          <a:p>
            <a:pPr>
              <a:spcBef>
                <a:spcPts val="400"/>
              </a:spcBef>
              <a:defRPr sz="1100">
                <a:solidFill>
                  <a:srgbClr val="278246"/>
                </a:solidFill>
              </a:defRPr>
            </a:pPr>
            <a:r>
              <a:t>✔ Dual export Parquet/CSV com manifesto de hashes SHA-256.</a:t>
            </a:r>
          </a:p>
          <a:p>
            <a:pPr>
              <a:spcBef>
                <a:spcPts val="400"/>
              </a:spcBef>
              <a:defRPr sz="1100">
                <a:solidFill>
                  <a:srgbClr val="278246"/>
                </a:solidFill>
              </a:defRPr>
            </a:pPr>
            <a:r>
              <a:t>✔ Notebooks 06 e 07 renderizados e auditados ponta a ponta.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EBF3FD"/>
          </a:solidFill>
          <a:ln w="12700">
            <a:solidFill>
              <a:srgbClr val="1E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5AB4"/>
                </a:solidFill>
              </a:defRPr>
            </a:pPr>
            <a:r>
              <a:t>🚀 SMOKE TEST &amp; TRANSIÇÃO SPRINT 3 (MODEL)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Smoke Test com GridSearchCV &amp; SVM RBF: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• Treinamento executado sobre X_train (5.574) em 0,05 segundos.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• Convergência limpa com score F1 preliminar de 1,0000.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• Prova de consumo imediato sem erros de dimensões ou NaN.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endParaRPr/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Handoff para a Sprint 3 (Fase Model):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• Espaço de hiperparâmetros SVM: C ∈ [0.1, 100] e γ ∈ ['scale', 0.01].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• Validação Cruzada Estratificada com StratifiedKFold (cv=5).</a:t>
            </a:r>
          </a:p>
          <a:p>
            <a:pPr>
              <a:spcBef>
                <a:spcPts val="200"/>
              </a:spcBef>
              <a:defRPr sz="1050">
                <a:solidFill>
                  <a:srgbClr val="282C34"/>
                </a:solidFill>
              </a:defRPr>
            </a:pPr>
            <a:r>
              <a:t>• Avaliação cega e calibração de probabilidades via Platt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2025</Words>
  <Application>Microsoft Office PowerPoint</Application>
  <PresentationFormat>Widescreen</PresentationFormat>
  <Paragraphs>163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Medeiros Sarti</cp:lastModifiedBy>
  <cp:revision>1</cp:revision>
  <dcterms:created xsi:type="dcterms:W3CDTF">2013-01-27T09:14:16Z</dcterms:created>
  <dcterms:modified xsi:type="dcterms:W3CDTF">2026-10-16T12:12:35Z</dcterms:modified>
  <cp:category/>
</cp:coreProperties>
</file>