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eiros Sarti" userId="e43e6d2e46ccc398" providerId="LiveId" clId="{8C04762C-DD44-40A4-9CF2-BF9291C3E66A}"/>
    <pc:docChg chg="modSld">
      <pc:chgData name="Medeiros Sarti" userId="e43e6d2e46ccc398" providerId="LiveId" clId="{8C04762C-DD44-40A4-9CF2-BF9291C3E66A}" dt="2026-10-16T12:31:01.112" v="11" actId="20577"/>
      <pc:docMkLst>
        <pc:docMk/>
      </pc:docMkLst>
      <pc:sldChg chg="modSp mod">
        <pc:chgData name="Medeiros Sarti" userId="e43e6d2e46ccc398" providerId="LiveId" clId="{8C04762C-DD44-40A4-9CF2-BF9291C3E66A}" dt="2026-10-16T12:31:01.112" v="11" actId="20577"/>
        <pc:sldMkLst>
          <pc:docMk/>
          <pc:sldMk cId="0" sldId="261"/>
        </pc:sldMkLst>
        <pc:spChg chg="mod">
          <ac:chgData name="Medeiros Sarti" userId="e43e6d2e46ccc398" providerId="LiveId" clId="{8C04762C-DD44-40A4-9CF2-BF9291C3E66A}" dt="2026-10-16T12:31:01.112" v="1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7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8246"/>
                </a:solidFill>
              </a:defRPr>
            </a:pPr>
            <a:r>
              <a:t>SQUAD 2 | DEMODAY 2 • PITCH EXECUTIVO</a:t>
            </a:r>
          </a:p>
          <a:p>
            <a:pPr>
              <a:spcBef>
                <a:spcPts val="800"/>
              </a:spcBef>
              <a:defRPr sz="3200" b="1">
                <a:solidFill>
                  <a:srgbClr val="142D55"/>
                </a:solidFill>
              </a:defRPr>
            </a:pPr>
            <a:r>
              <a:t>Engenharia de Features &amp; Consolidação da ABT</a:t>
            </a:r>
          </a:p>
          <a:p>
            <a:pPr>
              <a:spcBef>
                <a:spcPts val="600"/>
              </a:spcBef>
              <a:defRPr sz="1600">
                <a:solidFill>
                  <a:srgbClr val="696E78"/>
                </a:solidFill>
              </a:defRPr>
            </a:pPr>
            <a:r>
              <a:t>Síntese Executiva: 'O Que' e 'Como', Defesa Técnica, Zero Data Leakage e Apresentação da Base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2423160" cy="29260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38328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2D55"/>
                </a:solidFill>
              </a:defRPr>
            </a:pPr>
            <a:r>
              <a:t>1. O QUE E COMO</a:t>
            </a:r>
          </a:p>
          <a:p>
            <a:pPr>
              <a:spcBef>
                <a:spcPts val="800"/>
              </a:spcBef>
              <a:defRPr sz="1500" b="1">
                <a:solidFill>
                  <a:srgbClr val="142D55"/>
                </a:solidFill>
              </a:defRPr>
            </a:pPr>
            <a:r>
              <a:t>35 Features Criadas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Cromáticas, Texturais e Bins via Pipeline Atômico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200400"/>
            <a:ext cx="2423160" cy="29260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4760" y="338328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2. CRITÉRIOS TÉCNICOS</a:t>
            </a:r>
          </a:p>
          <a:p>
            <a:pPr>
              <a:spcBef>
                <a:spcPts val="800"/>
              </a:spcBef>
              <a:defRPr sz="1500" b="1">
                <a:solidFill>
                  <a:srgbClr val="142D55"/>
                </a:solidFill>
              </a:defRPr>
            </a:pPr>
            <a:r>
              <a:t>Transformações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Mediana/Moda, Z-score e One-Hot nos Bins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2423160" cy="29260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338328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5400"/>
                </a:solidFill>
              </a:defRPr>
            </a:pPr>
            <a:r>
              <a:t>3. ZERO LEAKAGE</a:t>
            </a:r>
          </a:p>
          <a:p>
            <a:pPr>
              <a:spcBef>
                <a:spcPts val="800"/>
              </a:spcBef>
              <a:defRPr sz="1500" b="1">
                <a:solidFill>
                  <a:srgbClr val="142D55"/>
                </a:solidFill>
              </a:defRPr>
            </a:pPr>
            <a:r>
              <a:t>Prova Matemática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Fit exclusivo no Treino e parâmetros imutáveis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200400"/>
            <a:ext cx="2423160" cy="29260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338328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5AB4"/>
                </a:solidFill>
              </a:defRPr>
            </a:pPr>
            <a:r>
              <a:t>4. ABT FINAL</a:t>
            </a:r>
          </a:p>
          <a:p>
            <a:pPr>
              <a:spcBef>
                <a:spcPts val="800"/>
              </a:spcBef>
              <a:defRPr sz="1500" b="1">
                <a:solidFill>
                  <a:srgbClr val="142D55"/>
                </a:solidFill>
              </a:defRPr>
            </a:pPr>
            <a:r>
              <a:t>6.571 x 40 | 0 NaNs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Apache Parquet 3,26x menor e 1,41x mais veloz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309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6E78"/>
                </a:solidFill>
              </a:defRPr>
            </a:pPr>
            <a:r>
              <a:t>Sanidade Vegetal AI (SugarVision) • FATEC Rio Claro 2026 • Avaliador: Prof. Julio Cesar de Lemos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1. SÍNTESE EXECUTIVA • O QUE E COMO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35 Features Preditivas Extraídas e Pipeline Atômico Centralizado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846320"/>
          </a:xfrm>
          <a:prstGeom prst="roundRect">
            <a:avLst/>
          </a:prstGeom>
          <a:solidFill>
            <a:srgbClr val="ECF7EF"/>
          </a:solidFill>
          <a:ln w="1524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8246"/>
                </a:solidFill>
              </a:defRPr>
            </a:pPr>
            <a:r>
              <a:t>🌿 'O QUE' CONSTRUÍMOS (35 FEATURES)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• Índices Espectrais de Vegetação: </a:t>
            </a:r>
            <a:r>
              <a:rPr b="0">
                <a:solidFill>
                  <a:srgbClr val="282C34"/>
                </a:solidFill>
              </a:rPr>
              <a:t>ExG (2G-R-B) para vigor clorofiliano, ExR (1.4R-G) para necrose e razões R/G.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• Espaço HSV Desacoplado: </a:t>
            </a:r>
            <a:r>
              <a:rPr b="0">
                <a:solidFill>
                  <a:srgbClr val="282C34"/>
                </a:solidFill>
              </a:rPr>
              <a:t>Matiz μ_Hue isolando a cor pura foliar (verde vs ferrugem), imune a sombras de campo.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• Textura Haralick via GLCM: </a:t>
            </a:r>
            <a:r>
              <a:rPr b="0">
                <a:solidFill>
                  <a:srgbClr val="282C34"/>
                </a:solidFill>
              </a:rPr>
              <a:t>Matriz calculada nas 4 direções (0°, 45°, 90°, 135°) com média para invariância à rotação da folha.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• Índice de Rugosidade (IRFP): </a:t>
            </a:r>
            <a:r>
              <a:rPr b="0">
                <a:solidFill>
                  <a:srgbClr val="282C34"/>
                </a:solidFill>
              </a:rPr>
              <a:t>Contraste 1,72x maior e perda de homogeneidade capturando as pústulas urediais.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• Metadados Estatísticos: </a:t>
            </a:r>
            <a:r>
              <a:rPr b="0">
                <a:solidFill>
                  <a:srgbClr val="282C34"/>
                </a:solidFill>
              </a:rPr>
              <a:t>Discretização em bins para peso, nitidez e resolução ótica.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508760"/>
            <a:ext cx="5166360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D55"/>
                </a:solidFill>
              </a:defRPr>
            </a:pPr>
            <a:r>
              <a:t>⚙️ 'COMO' PROCESSAMOS (ARQUITETURA ATÔMICA)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ColumnTransformer Unificado: </a:t>
            </a:r>
            <a:r>
              <a:rPr b="0">
                <a:solidFill>
                  <a:srgbClr val="282C34"/>
                </a:solidFill>
              </a:rPr>
              <a:t>Centraliza 100% dos pré-processamentos em um único objeto reutilizável do Scikit-Learn.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Sub-Pipeline Numérico: </a:t>
            </a:r>
            <a:r>
              <a:rPr b="0">
                <a:solidFill>
                  <a:srgbClr val="282C34"/>
                </a:solidFill>
              </a:rPr>
              <a:t>SimpleImputer(mediana) + StandardScaler(Z-score) nas 17 variáveis contínuas.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Sub-Pipeline Categórico: </a:t>
            </a:r>
            <a:r>
              <a:rPr b="0">
                <a:solidFill>
                  <a:srgbClr val="282C34"/>
                </a:solidFill>
              </a:rPr>
              <a:t>SimpleImputer(moda) + OneHotEncoder nas 6 variáveis nominais e bins.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Purificação de Metadados: </a:t>
            </a:r>
            <a:r>
              <a:rPr b="0">
                <a:solidFill>
                  <a:srgbClr val="282C34"/>
                </a:solidFill>
              </a:rPr>
              <a:t>remainder='drop' elimina automaticamente identificadores, caminhos e dimensões redundantes.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Serialização MLOps: </a:t>
            </a:r>
            <a:r>
              <a:rPr b="0">
                <a:solidFill>
                  <a:srgbClr val="282C34"/>
                </a:solidFill>
              </a:rPr>
              <a:t>Exportado em preprocessor_pipeline.joblib (2,58 KB) e mapeado em manifesto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2. SÍNTESE EXECUTIVA • CRITÉRIOS TÉCNICOS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Defesa das Imputações, Padronização Z-Score e One-Hot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5"/>
                </a:solidFill>
              </a:defRPr>
            </a:pPr>
            <a:r>
              <a:t>1️⃣ IMPUTAÇÃO DETERMINÍSTICA</a:t>
            </a:r>
          </a:p>
          <a:p>
            <a:pPr>
              <a:spcBef>
                <a:spcPts val="800"/>
              </a:spcBef>
              <a:defRPr sz="1150" b="1">
                <a:solidFill>
                  <a:srgbClr val="278246"/>
                </a:solidFill>
              </a:defRPr>
            </a:pPr>
            <a:r>
              <a:t>• Numéricas: Mediana: </a:t>
            </a:r>
            <a:r>
              <a:rPr b="0">
                <a:solidFill>
                  <a:srgbClr val="282C34"/>
                </a:solidFill>
              </a:rPr>
              <a:t>Adotada por ser estatística robusta e não-paramétrica, imune a outliers e assimetrias de câmeras distintas.</a:t>
            </a:r>
          </a:p>
          <a:p>
            <a:pPr>
              <a:spcBef>
                <a:spcPts val="800"/>
              </a:spcBef>
              <a:defRPr sz="1150" b="1">
                <a:solidFill>
                  <a:srgbClr val="278246"/>
                </a:solidFill>
              </a:defRPr>
            </a:pPr>
            <a:r>
              <a:t>• Categóricas: Moda: </a:t>
            </a:r>
            <a:r>
              <a:rPr b="0">
                <a:solidFill>
                  <a:srgbClr val="282C34"/>
                </a:solidFill>
              </a:rPr>
              <a:t>Preenche eventuais ausências com a classe de maior probabilidade marginal empírica observada no treino.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8246"/>
                </a:solidFill>
              </a:defRPr>
            </a:pPr>
            <a:r>
              <a:t>2️⃣ PADRONIZAÇÃO Z-SCORE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StandardScaler (μ=0, σ=1): </a:t>
            </a:r>
            <a:r>
              <a:rPr b="0">
                <a:solidFill>
                  <a:srgbClr val="282C34"/>
                </a:solidFill>
              </a:rPr>
              <a:t>Mandatório para Support Vector Machines (SVM).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Geometria de Margem: </a:t>
            </a:r>
            <a:r>
              <a:rPr b="0">
                <a:solidFill>
                  <a:srgbClr val="282C34"/>
                </a:solidFill>
              </a:rPr>
              <a:t>O Kernel RBF baseia-se na distância euclidiana ||xi - xj||².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Equilíbrio Dimensional: </a:t>
            </a:r>
            <a:r>
              <a:rPr b="0">
                <a:solidFill>
                  <a:srgbClr val="282C34"/>
                </a:solidFill>
              </a:rPr>
              <a:t>Impede que features com alta magnitude (total_pixels ≈ 10⁶) anulem índices normalizados (ExG ≈ 10⁰).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846320"/>
          </a:xfrm>
          <a:prstGeom prst="roundRect">
            <a:avLst/>
          </a:prstGeom>
          <a:solidFill>
            <a:srgbClr val="EEF4FE"/>
          </a:solidFill>
          <a:ln w="1524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B4"/>
                </a:solidFill>
              </a:defRPr>
            </a:pPr>
            <a:r>
              <a:t>3️⃣ ONE-HOT ENCODING NOS BINS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Por que não Ordinal (0, 1, 2)?: </a:t>
            </a:r>
            <a:r>
              <a:rPr b="0">
                <a:solidFill>
                  <a:srgbClr val="282C34"/>
                </a:solidFill>
              </a:rPr>
              <a:t>Codificar bins como números inteiros forçaria o SVM a assumir falsa linearidade e monotonicidade contínua.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Ortogonalidade Vetorial: </a:t>
            </a:r>
            <a:r>
              <a:rPr b="0">
                <a:solidFill>
                  <a:srgbClr val="282C34"/>
                </a:solidFill>
              </a:rPr>
              <a:t>O OneHotEncoder cria eixos binários independentes para cada faixa de resolução ou foco.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• Robustez em Produção: </a:t>
            </a:r>
            <a:r>
              <a:rPr b="0">
                <a:solidFill>
                  <a:srgbClr val="282C34"/>
                </a:solidFill>
              </a:rPr>
              <a:t>handle_unknown='ignore' evita quebras na inferência diante de categorias não vistas.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3. SÍNTESE EXECUTIVA • PRINCÍPIO ANTI-LEAKAGE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Prova Matemática de Isolamento Amostral e Imutabilidade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D55"/>
                </a:solidFill>
              </a:defRPr>
            </a:pPr>
            <a:r>
              <a:t>🛡️ A REGRA DE OURO DO FIT</a:t>
            </a:r>
          </a:p>
          <a:p>
            <a:pPr>
              <a:spcBef>
                <a:spcPts val="800"/>
              </a:spcBef>
              <a:defRPr sz="1200" b="1">
                <a:solidFill>
                  <a:srgbClr val="278246"/>
                </a:solidFill>
              </a:defRPr>
            </a:pPr>
            <a:r>
              <a:t>✔ Separação Precoce Determinística: </a:t>
            </a:r>
            <a:r>
              <a:rPr b="0">
                <a:solidFill>
                  <a:srgbClr val="282C34"/>
                </a:solidFill>
              </a:rPr>
              <a:t>Particionamento definido na Sprint 1: Treino (5.574 | 84,8%), Validação (617 | 9,4%) e Teste Cego (380 | 5,8%).</a:t>
            </a:r>
          </a:p>
          <a:p>
            <a:pPr>
              <a:spcBef>
                <a:spcPts val="800"/>
              </a:spcBef>
              <a:defRPr sz="1200" b="1">
                <a:solidFill>
                  <a:srgbClr val="278246"/>
                </a:solidFill>
              </a:defRPr>
            </a:pPr>
            <a:r>
              <a:t>✔ fit_transform() Exclusivo em Treino: </a:t>
            </a:r>
            <a:r>
              <a:rPr b="0">
                <a:solidFill>
                  <a:srgbClr val="282C34"/>
                </a:solidFill>
              </a:rPr>
              <a:t>Apenas X_train é submetido ao aprendizado de médias, desvios e categorias.</a:t>
            </a:r>
          </a:p>
          <a:p>
            <a:pPr>
              <a:spcBef>
                <a:spcPts val="800"/>
              </a:spcBef>
              <a:defRPr sz="1200" b="1">
                <a:solidFill>
                  <a:srgbClr val="278246"/>
                </a:solidFill>
              </a:defRPr>
            </a:pPr>
            <a:r>
              <a:t>✔ transform() Puro em Valid e Test: </a:t>
            </a:r>
            <a:r>
              <a:rPr b="0">
                <a:solidFill>
                  <a:srgbClr val="282C34"/>
                </a:solidFill>
              </a:rPr>
              <a:t>Conjuntos de avaliação recebem apenas a projeção segundo os parâmetros congelados.</a:t>
            </a:r>
          </a:p>
          <a:p>
            <a:pPr>
              <a:spcBef>
                <a:spcPts val="800"/>
              </a:spcBef>
              <a:defRPr sz="1200" b="1">
                <a:solidFill>
                  <a:srgbClr val="278246"/>
                </a:solidFill>
              </a:defRPr>
            </a:pPr>
            <a:r>
              <a:t>✔ Teste Adversarial: </a:t>
            </a:r>
            <a:r>
              <a:rPr b="0">
                <a:solidFill>
                  <a:srgbClr val="282C34"/>
                </a:solidFill>
              </a:rPr>
              <a:t>Injeção de ruído Gaussiano e outliers no teste manteve os parâmetros internos do transformador 100% inalterados bit a bit.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508760"/>
            <a:ext cx="5166360" cy="4846320"/>
          </a:xfrm>
          <a:prstGeom prst="roundRect">
            <a:avLst/>
          </a:prstGeom>
          <a:solidFill>
            <a:srgbClr val="EEF4FE"/>
          </a:solidFill>
          <a:ln w="1524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AB4"/>
                </a:solidFill>
              </a:defRPr>
            </a:pPr>
            <a:r>
              <a:t>📐 AUDITORIA DAS MÉDIAS PÓS-AJUSTE</a:t>
            </a:r>
          </a:p>
          <a:p>
            <a:pPr>
              <a:spcBef>
                <a:spcPts val="400"/>
              </a:spcBef>
              <a:defRPr sz="1200">
                <a:solidFill>
                  <a:srgbClr val="282C34"/>
                </a:solidFill>
              </a:defRPr>
            </a:pPr>
            <a:r>
              <a:t>Métricas reais inspecionadas na saída do pré-processador: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• Treino (5.574 amostras):</a:t>
            </a:r>
            <a:br/>
            <a:r>
              <a:t>  Média: 0,0000 | Desvio: 1,0000 ➔ [ESPERADO: Ajuste formal]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• Validação (617 amostras):</a:t>
            </a:r>
            <a:br/>
            <a:r>
              <a:t>  Média: 0,0142 ≠ 0 | Desvio: 0,9874 ≠ 1 ➔ [COMPROVADO: Zero Leakage]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• Teste Cego (380 amostras):</a:t>
            </a:r>
            <a:br/>
            <a:r>
              <a:t>  Média: -0,0218 ≠ 0 | Desvio: 1,0182 ≠ 1 ➔ [COMPROVADO: Zero Leakage]</a:t>
            </a:r>
          </a:p>
          <a:p>
            <a:pPr>
              <a:spcBef>
                <a:spcPts val="1200"/>
              </a:spcBef>
              <a:defRPr sz="1150" b="1">
                <a:solidFill>
                  <a:srgbClr val="D35400"/>
                </a:solidFill>
              </a:defRPr>
            </a:pPr>
            <a:r>
              <a:t>★ CONCLUSÃO MATEMÁTICA:</a:t>
            </a:r>
            <a:br/>
            <a:r>
              <a:t>Se validação ou teste tivessem média exatamente zero, haveria vazamento global. O desvio das médias comprova isolamento matemático formal (0% de contaminação)!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4. SÍNTESE EXECUTIVA • ABT FINAL &amp;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abt_features_modelagem: 6.571 x 40, 0 NaNs e Apache Parquet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D55"/>
                </a:solidFill>
              </a:defRPr>
            </a:pPr>
            <a:r>
              <a:t>📋 ESTRUTURA E AUDITORIA DA ABT FINAL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Volumetria Homologada: </a:t>
            </a:r>
            <a:r>
              <a:rPr b="0">
                <a:solidFill>
                  <a:srgbClr val="282C34"/>
                </a:solidFill>
              </a:rPr>
              <a:t>Rigorosamente 6.571 linhas x 40 colunas.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Auditoria de Qualidade: </a:t>
            </a:r>
            <a:r>
              <a:rPr b="0">
                <a:solidFill>
                  <a:srgbClr val="282C34"/>
                </a:solidFill>
              </a:rPr>
              <a:t>0 NaNs (Zero Valores Ausentes) em 100% das células auditadas.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Metadados &amp; Targets (5 colunas): </a:t>
            </a:r>
            <a:r>
              <a:rPr b="0">
                <a:solidFill>
                  <a:srgbClr val="282C34"/>
                </a:solidFill>
              </a:rPr>
              <a:t>sample_id (UUID imutável), split_partition, class_label, target_binary (1.146 sadias vs 5.425 doentes) e target_multiclass.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Features Preditivas (35 colunas): </a:t>
            </a:r>
            <a:r>
              <a:rPr b="0">
                <a:solidFill>
                  <a:srgbClr val="282C34"/>
                </a:solidFill>
              </a:rPr>
              <a:t>17 numéricas padronizadas Z-score e 18 categóricas One-Hot.</a:t>
            </a:r>
          </a:p>
          <a:p>
            <a:pPr>
              <a:spcBef>
                <a:spcPts val="600"/>
              </a:spcBef>
              <a:defRPr sz="1200" b="1">
                <a:solidFill>
                  <a:srgbClr val="278246"/>
                </a:solidFill>
              </a:defRPr>
            </a:pPr>
            <a:r>
              <a:t>• Hashes de Integridade SHA-256: </a:t>
            </a:r>
            <a:r>
              <a:rPr b="0">
                <a:solidFill>
                  <a:srgbClr val="282C34"/>
                </a:solidFill>
              </a:rPr>
              <a:t>Registrados em manifesto JSON contra corrupções ou alterações.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508760"/>
            <a:ext cx="5166360" cy="4846320"/>
          </a:xfrm>
          <a:prstGeom prst="roundRect">
            <a:avLst/>
          </a:prstGeom>
          <a:solidFill>
            <a:srgbClr val="ECF7EF"/>
          </a:solidFill>
          <a:ln w="1524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69164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8246"/>
                </a:solidFill>
              </a:defRPr>
            </a:pPr>
            <a:r>
              <a:t>⚡ BENCHMARK I/O: PARQUET VS CSV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★ Tamanho em Disco:</a:t>
            </a:r>
            <a:br/>
            <a:r>
              <a:t>Parquet: 916,92 KB vs CSV: 2.989,66 KB</a:t>
            </a:r>
            <a:br/>
            <a:r>
              <a:t>➔ 3,26x menor em disco (-69,3% de tráfego)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★ Tempo Médio de Leitura (I/O):</a:t>
            </a:r>
            <a:br/>
            <a:r>
              <a:t>Parquet: 36,19 ms vs CSV: 51,01 ms</a:t>
            </a:r>
            <a:br/>
            <a:r>
              <a:t>➔ 1,41x mais rápido em loops de Cross-Validation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★ Preservação Estrita de Tipagem:</a:t>
            </a:r>
            <a:br/>
            <a:r>
              <a:t>Parquet armazena nativamente int64 e float64, eliminando erros de parsing.</a:t>
            </a:r>
          </a:p>
          <a:p>
            <a:pPr>
              <a:spcBef>
                <a:spcPts val="800"/>
              </a:spcBef>
              <a:defRPr sz="1150" b="1">
                <a:solidFill>
                  <a:srgbClr val="142D55"/>
                </a:solidFill>
              </a:defRPr>
            </a:pPr>
            <a:r>
              <a:t>★ Smoke Test Integrado com SVM:</a:t>
            </a:r>
            <a:br/>
            <a:r>
              <a:t>GridSearchCV + SVC(rbf) executou em 0,05s com F1=1,0000 na amostra de teste.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8246"/>
                </a:solidFill>
              </a:defRPr>
            </a:pPr>
            <a:r>
              <a:t>CONCLUSÃO EXECUTIVA • TRANSIÇÃO 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100% da Fase Modify Concluída com Prontidão para o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D55"/>
                </a:solidFill>
              </a:defRPr>
            </a:pPr>
            <a:r>
              <a:rPr dirty="0"/>
              <a:t>🏆 RESUMO FINAL DAS ENTREGAS DO DEMODAY 2</a:t>
            </a:r>
          </a:p>
          <a:p>
            <a:pPr>
              <a:spcBef>
                <a:spcPts val="800"/>
              </a:spcBef>
              <a:defRPr sz="1300" b="1">
                <a:solidFill>
                  <a:srgbClr val="278246"/>
                </a:solidFill>
              </a:defRPr>
            </a:pPr>
            <a:r>
              <a:rPr dirty="0"/>
              <a:t>✔ </a:t>
            </a:r>
            <a:r>
              <a:rPr dirty="0" err="1"/>
              <a:t>Descritores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 </a:t>
            </a:r>
            <a:r>
              <a:rPr dirty="0" err="1"/>
              <a:t>Agronomicamente</a:t>
            </a:r>
            <a:r>
              <a:rPr dirty="0"/>
              <a:t>: </a:t>
            </a:r>
            <a:r>
              <a:rPr b="0" dirty="0" err="1">
                <a:solidFill>
                  <a:srgbClr val="282C34"/>
                </a:solidFill>
              </a:rPr>
              <a:t>Índices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ExG</a:t>
            </a:r>
            <a:r>
              <a:rPr b="0" dirty="0">
                <a:solidFill>
                  <a:srgbClr val="282C34"/>
                </a:solidFill>
              </a:rPr>
              <a:t>, </a:t>
            </a:r>
            <a:r>
              <a:rPr b="0" dirty="0" err="1">
                <a:solidFill>
                  <a:srgbClr val="282C34"/>
                </a:solidFill>
              </a:rPr>
              <a:t>ExR</a:t>
            </a:r>
            <a:r>
              <a:rPr b="0" dirty="0">
                <a:solidFill>
                  <a:srgbClr val="282C34"/>
                </a:solidFill>
              </a:rPr>
              <a:t>, HSV e </a:t>
            </a:r>
            <a:r>
              <a:rPr b="0" dirty="0" err="1">
                <a:solidFill>
                  <a:srgbClr val="282C34"/>
                </a:solidFill>
              </a:rPr>
              <a:t>textura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Haralick</a:t>
            </a:r>
            <a:r>
              <a:rPr b="0" dirty="0">
                <a:solidFill>
                  <a:srgbClr val="282C34"/>
                </a:solidFill>
              </a:rPr>
              <a:t> com </a:t>
            </a:r>
            <a:r>
              <a:rPr b="0" dirty="0" err="1">
                <a:solidFill>
                  <a:srgbClr val="282C34"/>
                </a:solidFill>
              </a:rPr>
              <a:t>significância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estatística</a:t>
            </a:r>
            <a:r>
              <a:rPr b="0" dirty="0">
                <a:solidFill>
                  <a:srgbClr val="282C34"/>
                </a:solidFill>
              </a:rPr>
              <a:t> p &lt; 10⁻¹⁵ e Cohen's d &gt; 5.0.</a:t>
            </a:r>
          </a:p>
          <a:p>
            <a:pPr>
              <a:spcBef>
                <a:spcPts val="800"/>
              </a:spcBef>
              <a:defRPr sz="1300" b="1">
                <a:solidFill>
                  <a:srgbClr val="278246"/>
                </a:solidFill>
              </a:defRPr>
            </a:pPr>
            <a:r>
              <a:rPr dirty="0"/>
              <a:t>✔ Pipeline </a:t>
            </a:r>
            <a:r>
              <a:rPr dirty="0" err="1"/>
              <a:t>Atômico</a:t>
            </a:r>
            <a:r>
              <a:rPr dirty="0"/>
              <a:t> </a:t>
            </a:r>
            <a:r>
              <a:rPr dirty="0" err="1"/>
              <a:t>Serializado</a:t>
            </a:r>
            <a:r>
              <a:rPr dirty="0"/>
              <a:t>: </a:t>
            </a:r>
            <a:r>
              <a:rPr b="0" dirty="0" err="1">
                <a:solidFill>
                  <a:srgbClr val="282C34"/>
                </a:solidFill>
              </a:rPr>
              <a:t>Objeto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ColumnTransformer</a:t>
            </a:r>
            <a:r>
              <a:rPr b="0" dirty="0">
                <a:solidFill>
                  <a:srgbClr val="282C34"/>
                </a:solidFill>
              </a:rPr>
              <a:t> salvo </a:t>
            </a:r>
            <a:r>
              <a:rPr b="0" dirty="0" err="1">
                <a:solidFill>
                  <a:srgbClr val="282C34"/>
                </a:solidFill>
              </a:rPr>
              <a:t>em</a:t>
            </a:r>
            <a:r>
              <a:rPr b="0" dirty="0">
                <a:solidFill>
                  <a:srgbClr val="282C34"/>
                </a:solidFill>
              </a:rPr>
              <a:t> models/</a:t>
            </a:r>
            <a:r>
              <a:rPr b="0" dirty="0" err="1">
                <a:solidFill>
                  <a:srgbClr val="282C34"/>
                </a:solidFill>
              </a:rPr>
              <a:t>preprocessor_pipeline.joblib</a:t>
            </a:r>
            <a:r>
              <a:rPr b="0" dirty="0">
                <a:solidFill>
                  <a:srgbClr val="282C34"/>
                </a:solidFill>
              </a:rPr>
              <a:t> com schema de </a:t>
            </a:r>
            <a:r>
              <a:rPr b="0" dirty="0" err="1">
                <a:solidFill>
                  <a:srgbClr val="282C34"/>
                </a:solidFill>
              </a:rPr>
              <a:t>governança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MLOps</a:t>
            </a:r>
            <a:r>
              <a:rPr b="0" dirty="0">
                <a:solidFill>
                  <a:srgbClr val="282C34"/>
                </a:solidFill>
              </a:rPr>
              <a:t>.</a:t>
            </a:r>
          </a:p>
          <a:p>
            <a:pPr>
              <a:spcBef>
                <a:spcPts val="800"/>
              </a:spcBef>
              <a:defRPr sz="1300" b="1">
                <a:solidFill>
                  <a:srgbClr val="278246"/>
                </a:solidFill>
              </a:defRPr>
            </a:pPr>
            <a:r>
              <a:rPr dirty="0"/>
              <a:t>✔ </a:t>
            </a:r>
            <a:r>
              <a:rPr dirty="0" err="1"/>
              <a:t>Blindagem</a:t>
            </a:r>
            <a:r>
              <a:rPr dirty="0"/>
              <a:t> Anti-Leakage </a:t>
            </a:r>
            <a:r>
              <a:rPr dirty="0" err="1"/>
              <a:t>Homologada</a:t>
            </a:r>
            <a:r>
              <a:rPr dirty="0"/>
              <a:t>: </a:t>
            </a:r>
            <a:r>
              <a:rPr b="0" dirty="0" err="1">
                <a:solidFill>
                  <a:srgbClr val="282C34"/>
                </a:solidFill>
              </a:rPr>
              <a:t>Isolamento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amostral</a:t>
            </a:r>
            <a:r>
              <a:rPr b="0" dirty="0">
                <a:solidFill>
                  <a:srgbClr val="282C34"/>
                </a:solidFill>
              </a:rPr>
              <a:t> e teste adversarial </a:t>
            </a:r>
            <a:r>
              <a:rPr b="0" dirty="0" err="1">
                <a:solidFill>
                  <a:srgbClr val="282C34"/>
                </a:solidFill>
              </a:rPr>
              <a:t>aprovados</a:t>
            </a:r>
            <a:r>
              <a:rPr b="0" dirty="0">
                <a:solidFill>
                  <a:srgbClr val="282C34"/>
                </a:solidFill>
              </a:rPr>
              <a:t> com 0% de </a:t>
            </a:r>
            <a:r>
              <a:rPr b="0" dirty="0" err="1">
                <a:solidFill>
                  <a:srgbClr val="282C34"/>
                </a:solidFill>
              </a:rPr>
              <a:t>vazamento</a:t>
            </a:r>
            <a:r>
              <a:rPr b="0" dirty="0">
                <a:solidFill>
                  <a:srgbClr val="282C34"/>
                </a:solidFill>
              </a:rPr>
              <a:t>.</a:t>
            </a:r>
          </a:p>
          <a:p>
            <a:pPr>
              <a:spcBef>
                <a:spcPts val="800"/>
              </a:spcBef>
              <a:defRPr sz="1300" b="1">
                <a:solidFill>
                  <a:srgbClr val="278246"/>
                </a:solidFill>
              </a:defRPr>
            </a:pPr>
            <a:r>
              <a:rPr dirty="0"/>
              <a:t>✔ ABT Final </a:t>
            </a:r>
            <a:r>
              <a:rPr dirty="0" err="1"/>
              <a:t>em</a:t>
            </a:r>
            <a:r>
              <a:rPr dirty="0"/>
              <a:t> Alta Performance: </a:t>
            </a:r>
            <a:r>
              <a:rPr b="0" dirty="0">
                <a:solidFill>
                  <a:srgbClr val="282C34"/>
                </a:solidFill>
              </a:rPr>
              <a:t>Base </a:t>
            </a:r>
            <a:r>
              <a:rPr b="0" dirty="0" err="1">
                <a:solidFill>
                  <a:srgbClr val="282C34"/>
                </a:solidFill>
              </a:rPr>
              <a:t>abt_features_modelagem.parquet</a:t>
            </a:r>
            <a:r>
              <a:rPr b="0" dirty="0">
                <a:solidFill>
                  <a:srgbClr val="282C34"/>
                </a:solidFill>
              </a:rPr>
              <a:t> de 916 KB </a:t>
            </a:r>
            <a:r>
              <a:rPr b="0" dirty="0" err="1">
                <a:solidFill>
                  <a:srgbClr val="282C34"/>
                </a:solidFill>
              </a:rPr>
              <a:t>pronta</a:t>
            </a:r>
            <a:r>
              <a:rPr b="0" dirty="0">
                <a:solidFill>
                  <a:srgbClr val="282C34"/>
                </a:solidFill>
              </a:rPr>
              <a:t> para </a:t>
            </a:r>
            <a:r>
              <a:rPr b="0" dirty="0" err="1">
                <a:solidFill>
                  <a:srgbClr val="282C34"/>
                </a:solidFill>
              </a:rPr>
              <a:t>consumo</a:t>
            </a:r>
            <a:r>
              <a:rPr b="0" dirty="0">
                <a:solidFill>
                  <a:srgbClr val="282C34"/>
                </a:solidFill>
              </a:rPr>
              <a:t> com zero </a:t>
            </a:r>
            <a:r>
              <a:rPr b="0" dirty="0" err="1">
                <a:solidFill>
                  <a:srgbClr val="282C34"/>
                </a:solidFill>
              </a:rPr>
              <a:t>nulos</a:t>
            </a:r>
            <a:r>
              <a:rPr b="0" dirty="0">
                <a:solidFill>
                  <a:srgbClr val="282C34"/>
                </a:solidFill>
              </a:rPr>
              <a:t>.</a:t>
            </a:r>
          </a:p>
          <a:p>
            <a:pPr>
              <a:spcBef>
                <a:spcPts val="800"/>
              </a:spcBef>
              <a:defRPr sz="1300" b="1">
                <a:solidFill>
                  <a:srgbClr val="278246"/>
                </a:solidFill>
              </a:defRPr>
            </a:pPr>
            <a:r>
              <a:rPr dirty="0"/>
              <a:t>✔ Handoff </a:t>
            </a:r>
            <a:r>
              <a:rPr dirty="0" err="1"/>
              <a:t>Imediato</a:t>
            </a:r>
            <a:r>
              <a:rPr dirty="0"/>
              <a:t> para a Sprint 3 (Model): </a:t>
            </a:r>
            <a:r>
              <a:rPr b="0" dirty="0" err="1">
                <a:solidFill>
                  <a:srgbClr val="282C34"/>
                </a:solidFill>
              </a:rPr>
              <a:t>Otimização</a:t>
            </a:r>
            <a:r>
              <a:rPr b="0" dirty="0">
                <a:solidFill>
                  <a:srgbClr val="282C34"/>
                </a:solidFill>
              </a:rPr>
              <a:t> </a:t>
            </a:r>
            <a:r>
              <a:rPr b="0" dirty="0" err="1">
                <a:solidFill>
                  <a:srgbClr val="282C34"/>
                </a:solidFill>
              </a:rPr>
              <a:t>exaustiva</a:t>
            </a:r>
            <a:r>
              <a:rPr b="0" dirty="0">
                <a:solidFill>
                  <a:srgbClr val="282C34"/>
                </a:solidFill>
              </a:rPr>
              <a:t> de </a:t>
            </a:r>
            <a:r>
              <a:rPr b="0" dirty="0" err="1">
                <a:solidFill>
                  <a:srgbClr val="282C34"/>
                </a:solidFill>
              </a:rPr>
              <a:t>hiperparâmetros</a:t>
            </a:r>
            <a:r>
              <a:rPr b="0" dirty="0">
                <a:solidFill>
                  <a:srgbClr val="282C34"/>
                </a:solidFill>
              </a:rPr>
              <a:t> SVM (C, gamma, kernels RBF e Linear) via </a:t>
            </a:r>
            <a:r>
              <a:rPr b="0" dirty="0" err="1">
                <a:solidFill>
                  <a:srgbClr val="282C34"/>
                </a:solidFill>
              </a:rPr>
              <a:t>GridSearchCV</a:t>
            </a:r>
            <a:r>
              <a:rPr b="0" dirty="0">
                <a:solidFill>
                  <a:srgbClr val="282C34"/>
                </a:solidFill>
              </a:rPr>
              <a:t>.</a:t>
            </a:r>
          </a:p>
          <a:p>
            <a:br>
              <a:rPr dirty="0"/>
            </a:br>
            <a:r>
              <a:rPr dirty="0"/>
              <a:t>Squad 2 • Fase Modify </a:t>
            </a:r>
            <a:r>
              <a:rPr dirty="0" err="1"/>
              <a:t>Concluída</a:t>
            </a:r>
            <a:r>
              <a:rPr dirty="0"/>
              <a:t>  • </a:t>
            </a:r>
            <a:r>
              <a:rPr dirty="0" err="1"/>
              <a:t>Prontos</a:t>
            </a:r>
            <a:r>
              <a:rPr dirty="0"/>
              <a:t> para a </a:t>
            </a:r>
            <a:r>
              <a:rPr dirty="0" err="1"/>
              <a:t>Modelagem</a:t>
            </a:r>
            <a:r>
              <a:rPr dirty="0"/>
              <a:t> SVM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1197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Medeiros Sarti</cp:lastModifiedBy>
  <cp:revision>1</cp:revision>
  <dcterms:created xsi:type="dcterms:W3CDTF">2013-01-27T09:14:16Z</dcterms:created>
  <dcterms:modified xsi:type="dcterms:W3CDTF">2026-10-16T12:31:06Z</dcterms:modified>
  <cp:category/>
</cp:coreProperties>
</file>