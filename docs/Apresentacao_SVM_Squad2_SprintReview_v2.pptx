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(00:00 - 01:00)</a:t>
            </a:r>
          </a:p>
          <a:p/>
          <a:p>
            <a:r>
              <a:t>FALA DO APRESENTADOR:</a:t>
            </a:r>
          </a:p>
          <a:p>
            <a:r>
              <a:t>'Bom dia a todos! Hoje o Squad 2 apresenta a investigação técnico-científica do Support Vector Machines (SVM).</a:t>
            </a:r>
          </a:p>
          <a:p>
            <a:r>
              <a:t>Nossa apresentação está 100% alinhada com o Notebook 05 do nosso repositório, dividida rigorosamente em três blocos:</a:t>
            </a:r>
          </a:p>
          <a:p>
            <a:r>
              <a:t>Na Parte 1, vamos desmistificar a matemática da Margem Máxima, o Dual de Lagrange e o Truque do Kernel.</a:t>
            </a:r>
          </a:p>
          <a:p>
            <a:r>
              <a:t>Na Parte 2, veremos os gargalos reais que o SVM resolve na ciência e na indústria, demonstrando o One-Class SVM para detecção de fraudes.</a:t>
            </a:r>
          </a:p>
          <a:p>
            <a:r>
              <a:t>E na Parte 3, traremos a aplicação real no SugarVision, mostrando como o SVM separou perfeitamente folhas de cana sadias daquelas com ferrugem, retendo apenas 28 vetores de suporte e atingindo 100% de precisão no teste.'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15 SEGUNDOS (01:00 - 02:15)</a:t>
            </a:r>
          </a:p>
          <a:p/>
          <a:p>
            <a:r>
              <a:t>FALA DO APRESENTADOR:</a:t>
            </a:r>
          </a:p>
          <a:p>
            <a:r>
              <a:t>'Como vimos na Seção 1 do notebook, a intuição do SVM é puramente geométrica: queremos passar o hiperplano o mais longe possível dos pontos mais próximos de cada classe.</a:t>
            </a:r>
          </a:p>
          <a:p>
            <a:r>
              <a:t>Essa faixa de segurança é a Margem, e geometricamente sua largura é exatamente 2 dividido pela norma do vetor de pesos w.</a:t>
            </a:r>
          </a:p>
          <a:p>
            <a:r>
              <a:t>Logo, para maximizar a margem, a matemática nos leva a minimizar meio de ||w|| ao quadrado.</a:t>
            </a:r>
          </a:p>
          <a:p>
            <a:r>
              <a:t>Na figura à direita, vejam as linhas tracejadas: elas passam exatamente sobre os pontos mais difíceis, que são os Vetores de Suporte.</a:t>
            </a:r>
          </a:p>
          <a:p>
            <a:r>
              <a:t>E na vida real, como os dados têm ruído, usamos as variáveis de folga xi e o hiperparâmetro C. O C funciona como um botão de sintonia da regularização: C alto busca acertar tudo na marra, gerando margens estreitas; enquanto um C equilibrado tolera pequenas violações para obter uma margem robusta que generaliza melhor.'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15 SEGUNDOS (02:15 - 03:30)</a:t>
            </a:r>
          </a:p>
          <a:p/>
          <a:p>
            <a:r>
              <a:t>FALA DO APRESENTADOR:</a:t>
            </a:r>
          </a:p>
          <a:p>
            <a:r>
              <a:t>'Avançando para a Seção 1.4 do notebook, chegamos à Formulação Dual de Lagrange.</a:t>
            </a:r>
          </a:p>
          <a:p>
            <a:r>
              <a:t>Ao resolver o Lagrangiano e aplicar as condições de KKT, nós eliminamos w e b da otimização. Ficamos com um problema que depende exclusivamente dos multiplicadores alfa.</a:t>
            </a:r>
          </a:p>
          <a:p>
            <a:r>
              <a:t>E a condição KKT nos dá um resultado espetacular: o vetor de pesos final é w = soma de alfa_i vezes y_i vezes x_i.</a:t>
            </a:r>
          </a:p>
          <a:p>
            <a:r>
              <a:t>Para todos os pontos confortavelmente dentro das suas classes, alfa_i é rigorosamente ZERO! Eles são totalmente descartados. Apenas os pontos com alfa positivo — os Vetores de Suporte — constroem a decisão final.</a:t>
            </a:r>
          </a:p>
          <a:p>
            <a:r>
              <a:t>Reparem no card à direita: além de nos garantir a convergência para um mínimo global sem mínimos locais, o Dual depende apenas do produto escalar entre pares de amostras. E é essa dependência que abre as portas para o Truque do Kernel.'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30 SEGUNDOS (03:30 - 05:00)</a:t>
            </a:r>
          </a:p>
          <a:p/>
          <a:p>
            <a:r>
              <a:t>FALA DO APRESENTADOR:</a:t>
            </a:r>
          </a:p>
          <a:p>
            <a:r>
              <a:t>'Na Seção 1.5 do notebook, executamos o teste prático do Truque do Kernel, exibido no gráfico à direita.</a:t>
            </a:r>
          </a:p>
          <a:p>
            <a:r>
              <a:t>Geramos 300 pontos sintéticos em dois anéis concêntricos com make_circles.</a:t>
            </a:r>
          </a:p>
          <a:p>
            <a:r>
              <a:t>No painel esquerdo, o SVM Linear tenta traçar uma reta: o resultado é um underfitting desastroso, precisando de 143 vetores de suporte e errando metade dos pontos.</a:t>
            </a:r>
          </a:p>
          <a:p>
            <a:r>
              <a:t>No painel direito, ativamos o Kernel RBF Gaussiano com a mesma regularização C=1.0.</a:t>
            </a:r>
          </a:p>
          <a:p>
            <a:r>
              <a:t>O RBF mede a distância euclidiana local e projeta implicitamente os dados para dimensão infinita. Vejam como a fronteira de decisão preta envolve perfeitamente o círculo central, com apenas 68 vetores de suporte demarcados em dourado!</a:t>
            </a:r>
          </a:p>
          <a:p>
            <a:r>
              <a:t>Isso prova o poder do Kernel: resolvemos problemas altamente não-lineares com a simplicidade e a estabilidade de um corte linear no espaço transformado.'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30 SEGUNDOS (05:00 - 06:30)</a:t>
            </a:r>
          </a:p>
          <a:p/>
          <a:p>
            <a:r>
              <a:t>FALA DO APRESENTADOR:</a:t>
            </a:r>
          </a:p>
          <a:p>
            <a:r>
              <a:t>'Na Parte 2 do notebook, analisamos onde o SVM é imbatível no mercado e na ciência.</a:t>
            </a:r>
          </a:p>
          <a:p>
            <a:r>
              <a:t>O primeiro grande nicho é quando temos poucas amostras e dimensões colossais, como na genética oncológica: com 80 pacientes e 20.000 genes, redes neurais sofrem memorização espúria, enquanto o SVM atinge mais de 95% de acurácia.</a:t>
            </a:r>
          </a:p>
          <a:p>
            <a:r>
              <a:t>O segundo é na esteira jurídica, processando matrizes de 50.000 palavras em milissegundos com LinearSVC.</a:t>
            </a:r>
          </a:p>
          <a:p>
            <a:r>
              <a:t>E o terceiro, executado no código do notebook e exibido no gráfico à direita, é a Detecção de Anomalias com One-Class SVM.</a:t>
            </a:r>
          </a:p>
          <a:p>
            <a:r>
              <a:t>Em prevenção a fraudes, quase não temos rótulos de fraudes reais. O One-Class SVM traça a curva vermelha envolvendo as transações legítimas azuis. Quando lançamos 20 transações anômalas desconhecidas em X vermelho, o modelo detectou 19 delas com precisão cirúrgica de 95% sem ter visto nenhuma fraude no treino!'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15 SEGUNDOS (06:30 - 07:45)</a:t>
            </a:r>
          </a:p>
          <a:p/>
          <a:p>
            <a:r>
              <a:t>FALA DO APRESENTADOR:</a:t>
            </a:r>
          </a:p>
          <a:p>
            <a:r>
              <a:t>'Entrando agora na Parte 3 do notebook, conectamos a teoria ao nosso desafio agrícola no SugarVision.</a:t>
            </a:r>
          </a:p>
          <a:p>
            <a:r>
              <a:t>A ferrugem na cana ataca diretamente a clorofila e rompe a epiderme foliar com pústulas castanhas.</a:t>
            </a:r>
          </a:p>
          <a:p>
            <a:r>
              <a:t>Para alimentar o SVM, usamos os dois descritores comprovados estatisticamente na Sprint 1:</a:t>
            </a:r>
          </a:p>
          <a:p>
            <a:r>
              <a:t>O Excesso de Verde (ExG), que mede o vigor clorofítico, e o Contraste de Haralick (GLCM), que mede a rugosidade da lesão.</a:t>
            </a:r>
          </a:p>
          <a:p>
            <a:r>
              <a:t>Como vemos no terceiro card, estruturamos a base analítica com 600 amostras e divisão estratificada 70/30.</a:t>
            </a:r>
          </a:p>
          <a:p>
            <a:r>
              <a:t>E um detalhe técnico vital que enfatizamos no código: a padronização Z-Score com StandardScaler é obrigatória no SVM! Se o ExG estivesse em escala bruta de 0 a 50 e o GLCM em outra escala, o cálculo da margem euclidiana seria distorcido.'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1 MINUTO E 30 SEGUNDOS (07:45 - 09:15)</a:t>
            </a:r>
          </a:p>
          <a:p/>
          <a:p>
            <a:r>
              <a:t>FALA DO APRESENTADOR:</a:t>
            </a:r>
          </a:p>
          <a:p>
            <a:r>
              <a:t>'E aqui está o resultado visual e quantitativo definitivo executado na Célula 5 do nosso notebook!</a:t>
            </a:r>
          </a:p>
          <a:p>
            <a:r>
              <a:t>No painel da esquerda, vemos as 420 amostras de treino no plano padronizado de ExG contra Contraste GLCM.</a:t>
            </a:r>
          </a:p>
          <a:p>
            <a:r>
              <a:t>A linha preta central é o hiperplano de margem máxima do SVM RBF, e as linhas tracejadas demarcam a margem.</a:t>
            </a:r>
          </a:p>
          <a:p>
            <a:r>
              <a:t>E prestem atenção nos círculos em magenta: esses são os 28 Vetores de Suporte reais identificados pelo algoritmo!</a:t>
            </a:r>
          </a:p>
          <a:p>
            <a:r>
              <a:t>O modelo precisou de apenas 6.7% do dataset para definir a fronteira com precisão absoluta. Todos os outros 392 pontos são dispensáveis para a decisão.</a:t>
            </a:r>
          </a:p>
          <a:p>
            <a:r>
              <a:t>No painel da direita, validamos o modelo nas 180 imagens de teste nunca vistas antes. O resultado na Matriz de Confusão foi impecável: 90 folhas sadias acertadas e 90 folhas com ferrugem identificadas, com zero falso negativo!</a:t>
            </a:r>
          </a:p>
          <a:p>
            <a:r>
              <a:t>Para a operação agrícola, isso significa que podemos salvar esse modelo com míseros 50 KB e embarcá-lo em drones ou smartphones de técnicos de campo para diagnóstico offline e instantâneo na lavoura!'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TEMPO: 45 SEGUNDOS (09:15 - 10:00)</a:t>
            </a:r>
          </a:p>
          <a:p/>
          <a:p>
            <a:r>
              <a:t>FALA DO APRESENTADOR:</a:t>
            </a:r>
          </a:p>
          <a:p>
            <a:r>
              <a:t>'Para encerrar: o SVM provou ser a melhor escolha arquitetural para o Squad 2.</a:t>
            </a:r>
          </a:p>
          <a:p>
            <a:r>
              <a:t>Ele nos entrega certeza matemática com mínimo global garantido, extrema eficiência computacional para a lavoura e uma precisão cirúrgica fundamentada nos atributos físico-ópticos da nossa cana.</a:t>
            </a:r>
          </a:p>
          <a:p>
            <a:r>
              <a:t>Todo o código, fórmulas e testes estão disponíveis de forma reprodutível no nosso Notebook 05.</a:t>
            </a:r>
          </a:p>
          <a:p>
            <a:r>
              <a:t>Agradecemos a atenção de todos e estamos à inteira disposição da banca para as perguntas!'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64592" cy="4114800"/>
          </a:xfrm>
          <a:prstGeom prst="rect">
            <a:avLst/>
          </a:prstGeom>
          <a:solidFill>
            <a:srgbClr val="27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D55"/>
                </a:solidFill>
              </a:defRPr>
            </a:pPr>
            <a:r>
              <a:t>Support Vector Machines (SVM)</a:t>
            </a:r>
          </a:p>
          <a:p>
            <a:pPr>
              <a:spcBef>
                <a:spcPts val="600"/>
              </a:spcBef>
              <a:defRPr sz="1800">
                <a:solidFill>
                  <a:srgbClr val="D35400"/>
                </a:solidFill>
              </a:defRPr>
            </a:pPr>
            <a:r>
              <a:t>Investigação Conceitual, Fundamentação Matemática e Aplicação no SugarVision</a:t>
            </a:r>
          </a:p>
          <a:p>
            <a:pPr>
              <a:spcBef>
                <a:spcPts val="600"/>
              </a:spcBef>
              <a:defRPr sz="1200">
                <a:solidFill>
                  <a:srgbClr val="6E737D"/>
                </a:solidFill>
              </a:defRPr>
            </a:pPr>
            <a:r>
              <a:t>Squad 2 • Sprint Review (10 min) • Baseado no Notebook: notebooks/05_estudo_teorico_e_aplicado_svm.ipynb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1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📐 O Conceito e a Matemática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Intuição da Margem Máxima (2 / ||w||)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Formulação Primal e Variáveis de Folga (C)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Dual de Lagrange e Multiplicadores α_i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Vetores de Suporte e o Truque do Kernel (RBF)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2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🌍 Casos Reais no Mercado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Genômica &amp; Oncologia Molecular (d &gt;&gt; n)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Classificação de Textos Jurídicos (NLP)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Detecção de Fraudes Financeiras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Simulação Prática do One-Class SVM (95% detecção)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3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🌿 Aplicação no SugarVision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Fitopatologia da Cana: Sadia vs Ferrugem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Atributos: ExG (Clorofila) e GLCM (Pústula)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Padronização Z-Score com StandardScaler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Hiperplano Ótimo: Apenas 28 Vetores de Suporte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100% de Acurácia no Conjunto de Teste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A Geometria da Margem Máxima e a Formulação Primal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2D55"/>
                </a:solidFill>
              </a:defRPr>
            </a:pPr>
            <a:r>
              <a:t>A Pergunta Fundamental:</a:t>
            </a:r>
            <a:br/>
            <a:r>
              <a:rPr b="0">
                <a:solidFill>
                  <a:srgbClr val="282C34"/>
                </a:solidFill>
              </a:rPr>
              <a:t>Diferente do Perceptron ou Regressão Logística, que encontram qualquer linha separadora, o SVM busca a fronteira ótima com maior margem de segurança.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Equação do Hiperplano Separador:</a:t>
            </a:r>
            <a:br/>
            <a:r>
              <a:rPr b="0">
                <a:solidFill>
                  <a:srgbClr val="282C34"/>
                </a:solidFill>
              </a:rPr>
              <a:t>f(x) = w^T x + b = 0
• w é o vetor de pesos normal (ortogonal) à fronteira;
• b é o viés (bias) que ajusta a distância até a origem.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Largura da Margem Geométrica:</a:t>
            </a:r>
            <a:br/>
            <a:r>
              <a:rPr b="0">
                <a:solidFill>
                  <a:srgbClr val="282C34"/>
                </a:solidFill>
              </a:rPr>
              <a:t>Margem = 2 / ||w||₂
Maximizar a margem equivale a resolver o problema de otimização convexa: min (1/2) ||w||².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Margem Suave (Soft Margin) e Hiperparâmetro C:</a:t>
            </a:r>
            <a:br/>
            <a:r>
              <a:rPr b="0">
                <a:solidFill>
                  <a:srgbClr val="282C34"/>
                </a:solidFill>
              </a:rPr>
              <a:t>Para acomodar ruídos e sobreposição, somamos variáveis de folga ξ_i ≥ 0:
min (1/2)||w||² + C Σ ξ_i  sujeito a  y_i(w^T x_i + b) ≥ 1 - ξ_i
• C Alto: Penalização severa de erros (margem estreita, risco de overfitting);
• C Baixo: Maior tolerância a violações (margem ampla, regularização forte).</a:t>
            </a:r>
          </a:p>
        </p:txBody>
      </p:sp>
      <p:pic>
        <p:nvPicPr>
          <p:cNvPr id="6" name="Picture 5" descr="svm_esquema_margem_maxi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08760"/>
            <a:ext cx="5212080" cy="2909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A Formulação Dual de Lagrange e a Condição KKT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2D55"/>
                </a:solidFill>
              </a:defRPr>
            </a:pPr>
            <a:r>
              <a:t>A Função Lagrangiana:</a:t>
            </a:r>
            <a:br/>
            <a:r>
              <a:rPr b="0">
                <a:solidFill>
                  <a:srgbClr val="282C34"/>
                </a:solidFill>
              </a:rPr>
              <a:t>L(w, b, ξ, α, μ) = (1/2)||w||² + C Σ ξ_i - Σ α_i [y_i(w^T x_i + b) - 1 + ξ_i] - Σ μ_i ξ_i
Onde α_i ≥ 0 e μ_i ≥ 0 são os Multiplicadores de Lagrange.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O Problema Dual de Wolfe:</a:t>
            </a:r>
            <a:br/>
            <a:r>
              <a:rPr b="0">
                <a:solidFill>
                  <a:srgbClr val="282C34"/>
                </a:solidFill>
              </a:rPr>
              <a:t>Ao derivar em relação a w, b e ξ_i e igualar a zero, eliminamos os pesos primitivos:
max_α  Σ α_i - (1/2) Σ Σ α_i α_j y_i y_j (x_i^T x_j)
sujeito a: 0 ≤ α_i ≤ C  e  Σ α_i y_i = 0.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O Teorema Central dos Vetores de Suporte (KKT):</a:t>
            </a:r>
            <a:br/>
            <a:r>
              <a:rPr b="0">
                <a:solidFill>
                  <a:srgbClr val="282C34"/>
                </a:solidFill>
              </a:rPr>
              <a:t>A solução final para os pesos é dada por:  w = Σ α_i y_i x_i
• Se α_i = 0: O dado x_i está fora da margem e NÃO tem impacto nenhum no modelo.
• Se α_i &gt; 0: O dado x_i é um VETOR DE SUPORTE que define sozinho o hiperplano!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A Grande Sacada do Dual:</a:t>
            </a:r>
            <a:br/>
            <a:r>
              <a:rPr b="0">
                <a:solidFill>
                  <a:srgbClr val="282C34"/>
                </a:solidFill>
              </a:rPr>
              <a:t>Os dados de treino aparecem exclusivamente na forma de PRODUTO ESCALAR (x_i^T x_j). Não precisamos das coordenadas espaciais absolutas, apenas da similaridade angular!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08760"/>
            <a:ext cx="5212080" cy="4663440"/>
          </a:xfrm>
          <a:prstGeom prst="roundRect">
            <a:avLst/>
          </a:prstGeom>
          <a:solidFill>
            <a:srgbClr val="F8F9FC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AA520"/>
                </a:solidFill>
              </a:defRPr>
            </a:pPr>
            <a:r>
              <a:t>💡 INSIGHT MATEMÁTICO: POR QUE O DUAL É REVOLUCIONÁRIO?</a:t>
            </a:r>
          </a:p>
          <a:p>
            <a:br/>
            <a:pPr>
              <a:defRPr sz="1200">
                <a:solidFill>
                  <a:srgbClr val="282C34"/>
                </a:solidFill>
              </a:defRPr>
            </a:pPr>
            <a:r>
              <a:t>1. Compressão de Dados Esparsa:</a:t>
            </a:r>
            <a:br/>
            <a:r>
              <a:t>Em um banco de 10.000 imagens, tipicamente apenas 5% a 10% das amostras têm α_i &gt; 0. O SVM ignora 90% a 95% do dataset na inferência!</a:t>
            </a:r>
          </a:p>
          <a:p>
            <a:br/>
            <a:pPr>
              <a:defRPr sz="1200">
                <a:solidFill>
                  <a:srgbClr val="282C34"/>
                </a:solidFill>
              </a:defRPr>
            </a:pPr>
            <a:r>
              <a:t>2. Otimização Convexa com Ótimo Global:</a:t>
            </a:r>
            <a:br/>
            <a:r>
              <a:t>Diferente das Redes Neurais que caem em mínimos locais em superfícies não-convexas, a função quadrática do SVM garante convergência inequívoca para o único mínimo global.</a:t>
            </a:r>
          </a:p>
          <a:p>
            <a:br/>
            <a:pPr>
              <a:defRPr sz="1200">
                <a:solidFill>
                  <a:srgbClr val="282C34"/>
                </a:solidFill>
              </a:defRPr>
            </a:pPr>
            <a:r>
              <a:t>3. A Porta de Entrada para o Kernel:</a:t>
            </a:r>
            <a:br/>
            <a:r>
              <a:t>Como tudo depende unicamente de (x_i^T x_j), podemos substituir essa multiplicação direta por uma função não-linear K(x_i, x_j). É isso que viabiliza o Truque do Kernel!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 Truque do Kernel e a Simulação Didática do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2D55"/>
                </a:solidFill>
              </a:defRPr>
            </a:pPr>
            <a:r>
              <a:t>O Teorema de Mercer:</a:t>
            </a:r>
            <a:br/>
            <a:r>
              <a:rPr b="0">
                <a:solidFill>
                  <a:srgbClr val="282C34"/>
                </a:solidFill>
              </a:rPr>
              <a:t>Se uma fronteira é não-linear no espaço original R^d, projetamos os dados para um espaço de dimensão superior R^D via φ(x).
Mercer provou que: K(x_i, x_j) = ⟨φ(x_i), φ(x_j)⟩.
NUNCA precisamos calcular ou armazenar as coordenadas na nova dimensão!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Kernel RBF (Gaussiano):</a:t>
            </a:r>
            <a:br/>
            <a:r>
              <a:rPr b="0">
                <a:solidFill>
                  <a:srgbClr val="282C34"/>
                </a:solidFill>
              </a:rPr>
              <a:t>K(x_i, x_j) = exp(-γ ||x_i - x_j||²)
Projeta os dados implicitamente em um espaço de dimensão infinita.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O Experimento do Notebook (make_circles):</a:t>
            </a:r>
            <a:br/>
            <a:r>
              <a:rPr b="0">
                <a:solidFill>
                  <a:srgbClr val="282C34"/>
                </a:solidFill>
              </a:rPr>
              <a:t>• Dados: 300 amostras em anéis concêntricos;
• SVM Linear: Falha crítica (143 vetores de suporte, corte reto inútil);
• SVM RBF: Fronteira circular perfeita, retendo apenas 68 vetores de suporte!</a:t>
            </a:r>
          </a:p>
        </p:txBody>
      </p:sp>
      <p:pic>
        <p:nvPicPr>
          <p:cNvPr id="6" name="Picture 5" descr="svm_didatico_fronteira_linear_vs_r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217920" cy="24111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2: APLICAÇÕES NO MERCADO E NA CIÊNCIA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Quando Utilizar e a Simulação do One-Class SVM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D55"/>
                </a:solidFill>
              </a:defRPr>
            </a:pPr>
            <a:r>
              <a:t>🧬 1. Genômica &amp; Diagnóstico Oncológico (d &gt;&gt; n):</a:t>
            </a:r>
            <a:br/>
            <a:r>
              <a:rPr b="0">
                <a:solidFill>
                  <a:srgbClr val="282C34"/>
                </a:solidFill>
              </a:rPr>
              <a:t>• Desafio: 80 pacientes e 20.000 genes expressos em microarrays.
• Vantagem SVM: A Teoria VC prova que a capacidade depende da margem, não de d. O SVM Linear não sofre overfitting e identifica biomarcadores nos pesos w.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⚖️ 2. Classificação de Textos Jurídicos em Larga Escala:</a:t>
            </a:r>
            <a:br/>
            <a:r>
              <a:rPr b="0">
                <a:solidFill>
                  <a:srgbClr val="282C34"/>
                </a:solidFill>
              </a:rPr>
              <a:t>• Desafio: Matrizes esparsas TF-IDF com 50.000 termos de vocabulário.
• Vantagem SVM: LinearSVC converge em tempo linear O(n·d) e classifica petições com latência inferior a 1 ms por documento.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🛡️ 3. Detecção de Fraudes com One-Class SVM:</a:t>
            </a:r>
            <a:br/>
            <a:r>
              <a:rPr b="0">
                <a:solidFill>
                  <a:srgbClr val="282C34"/>
                </a:solidFill>
              </a:rPr>
              <a:t>• Desafio: 99.99% das transações são legítimas; fraudes futuras são desconhecidas.
• Simulação do Notebook: Treinado com OneClassSVM(nu=0.05, gamma=0.1) em 200 transações usuais; detectou 19 de 20 anomalias desconhecidas (95% de precisão)!</a:t>
            </a:r>
          </a:p>
        </p:txBody>
      </p:sp>
      <p:pic>
        <p:nvPicPr>
          <p:cNvPr id="6" name="Picture 5" descr="svm_didatico_one_class_fr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890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3: APLICAÇÃO ESPECÍFICA NO SUGARVISION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Os Dados Fitopatológicos e a Engenharia de Atributos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🌾 DESAFIO AGRONÔMICO</a:t>
            </a:r>
          </a:p>
          <a:p>
            <a:pPr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t>Triagem Precoce da Ferrugem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Patógeno: </a:t>
            </a:r>
            <a:r>
              <a:rPr b="0">
                <a:solidFill>
                  <a:srgbClr val="282C34"/>
                </a:solidFill>
              </a:rPr>
              <a:t>Fungo Puccinia spp. que devora a área fotossinteticamente ativa da cana-de-açúcar.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Impacto Econômico: </a:t>
            </a:r>
            <a:r>
              <a:rPr b="0">
                <a:solidFill>
                  <a:srgbClr val="282C34"/>
                </a:solidFill>
              </a:rPr>
              <a:t>Perdas de biomassa e rendimento agrícola que chegam a 30% a 70%.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Abordagem Nível 1: </a:t>
            </a:r>
            <a:r>
              <a:rPr b="0">
                <a:solidFill>
                  <a:srgbClr val="282C34"/>
                </a:solidFill>
              </a:rPr>
              <a:t>Classificação Binária prioritária da Sprint 1/2:
• Classe 0: SAUDÁVEL (Healthy)
• Classe 1: FERRUGEM (Rust)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🔬 DESCRITORES FÍSICOS</a:t>
            </a:r>
          </a:p>
          <a:p>
            <a:pPr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t>Óptica e Textura na ABT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ExG (Excesso de Verde): </a:t>
            </a:r>
            <a:r>
              <a:rPr b="0">
                <a:solidFill>
                  <a:srgbClr val="282C34"/>
                </a:solidFill>
              </a:rPr>
              <a:t>ExG = 2G - R - B. Quantifica a concentração de clorofila ativa. Folhas sadias têm ExG elevado (42.0±6.0); a ferrugem provoca necrose clorótica, deprimindo o índice (14.0±5.5).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GLCM Contraste (Haralick): </a:t>
            </a:r>
            <a:r>
              <a:rPr b="0">
                <a:solidFill>
                  <a:srgbClr val="282C34"/>
                </a:solidFill>
              </a:rPr>
              <a:t>Mede o gradiente e rugosidade espacial. A folha sadia é lisa (12.5±3.0); as pústulas fungosas estouram a cutícula, elevando o contraste (36.0±6.5).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⚙️ PIPELINE DO NOTEBOOK</a:t>
            </a:r>
          </a:p>
          <a:p>
            <a:pPr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t>Padronização e Modelagem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Volume de Amostras: </a:t>
            </a:r>
            <a:r>
              <a:rPr b="0">
                <a:solidFill>
                  <a:srgbClr val="282C34"/>
                </a:solidFill>
              </a:rPr>
              <a:t>600 registros equilibrados (300 sadias e 300 com ferrugem).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Divisão Estratificada: </a:t>
            </a:r>
            <a:r>
              <a:rPr b="0">
                <a:solidFill>
                  <a:srgbClr val="282C34"/>
                </a:solidFill>
              </a:rPr>
              <a:t>70% Treino (420 amostras) e 30% Teste (180 amostras).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Obrigatoriedade Z-Score: </a:t>
            </a:r>
            <a:r>
              <a:rPr b="0">
                <a:solidFill>
                  <a:srgbClr val="282C34"/>
                </a:solidFill>
              </a:rPr>
              <a:t>StandardScaler() aplicado rigorosamente: como o SVM calcula distâncias euclidianas no kernel, atributos em escalas distintas distorceriam a margem!</a:t>
            </a:r>
          </a:p>
          <a:p>
            <a:br/>
            <a:pPr>
              <a:defRPr sz="1100" b="1">
                <a:solidFill>
                  <a:srgbClr val="142D55"/>
                </a:solidFill>
              </a:defRPr>
            </a:pPr>
            <a:r>
              <a:t>• Modelo Ajustado: </a:t>
            </a:r>
            <a:r>
              <a:rPr b="0">
                <a:solidFill>
                  <a:srgbClr val="282C34"/>
                </a:solidFill>
              </a:rPr>
              <a:t>SVC(kernel='rbf', C=1.0, gamma='scale')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3: APLICAÇÃO ESPECÍFICA NO SUGARVISION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 Hiperplano de Separação e a Matriz de Confusão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42D55"/>
                </a:solidFill>
              </a:defRPr>
            </a:pPr>
            <a:r>
              <a:t>O Que Mostra o Painel Esquerdo?</a:t>
            </a:r>
            <a:br/>
            <a:r>
              <a:rPr b="0">
                <a:solidFill>
                  <a:srgbClr val="282C34"/>
                </a:solidFill>
              </a:rPr>
              <a:t>• 420 amostras de treino (verde = Sadia, laranja = Ferrugem);
• A linha preta sólida é o Hiperplano Separador Ótimo do SVM RBF;
• As linhas tracejadas são as margens de suporte.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Os 28 Vetores de Suporte (Destaque em Magenta):</a:t>
            </a:r>
            <a:br/>
            <a:r>
              <a:rPr b="0">
                <a:solidFill>
                  <a:srgbClr val="282C34"/>
                </a:solidFill>
              </a:rPr>
              <a:t>De 420 dados de treino, exatamente 28 pontos (6.7%) encostam na margem!
O SVM descartou 93.3% dos dados irrelevantes e guardou apenas os 28 pontos de fronteira.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O Que Mostra o Painel Direito?</a:t>
            </a:r>
            <a:br/>
            <a:r>
              <a:rPr b="0">
                <a:solidFill>
                  <a:srgbClr val="282C34"/>
                </a:solidFill>
              </a:rPr>
              <a:t>A Matriz de Confusão no conjunto de teste independente (180 amostras):
• 90 folhas Sadias classificadas perfeitamente (0 erros);
• 90 folhas com Ferrugem detectadas (0 falsos negativos);
• Acurácia = 100% | F1-Score = 1.00.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Impacto de Negócio:</a:t>
            </a:r>
            <a:br/>
            <a:r>
              <a:rPr b="0">
                <a:solidFill>
                  <a:srgbClr val="282C34"/>
                </a:solidFill>
              </a:rPr>
              <a:t>Modelo final pesando menos de 50 KB, capaz de rodar inferências em microssegundos direto em drones ou celulares de técnicos em campo sem internet!</a:t>
            </a:r>
          </a:p>
        </p:txBody>
      </p:sp>
      <p:pic>
        <p:nvPicPr>
          <p:cNvPr id="6" name="Picture 5" descr="svm_sugarvision_fronteira_e_matriz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6766560" cy="2700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CONCLUSÃO E PRÓXIMOS PASSOS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Síntese da Investigação e Entrega do Squad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🔒 MÍNIMO GLOBAL CONVEXO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Robustez Matemática Superior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Ao contrário de redes neurais profundas, que dependem de descida de gradiente estocástica sujeita a mínimos locais e vanishing gradients, o SVM formula uma programação quadrática estritamente convexa com garantia de solução ótima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⚡ EFICIÊNCIA DE BORDA (EDGE)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Inferência Ultraleve em Campo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O modelo em produção guarda exclusivamente os 28 vetores de suporte (6.7% da base). Isso permite que a inferência seja calculada em microssegundos no meio do talhão de cana, sem depender de conexão 4G/5G ou servidores em nuvem.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🚀 CONEXÃO COM A SPRINT 2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Pipeline Pronto para Produção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O estudo do Notebook 05 consolida a transição da fase Explore da Sprint 1 para a modelagem supervisionada oficial da Sprint 2, onde integraremos a otimização de hiperparâmetros (C, γ) via GridSearchCV estratificado na ABT consolidada.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D55"/>
                </a:solidFill>
              </a:defRPr>
            </a:pPr>
            <a:r>
              <a:t>Obrigado! O Squad 2 encerra a exposição e está pronto para a arguição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